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  <p:sldMasterId id="2147483690" r:id="rId4"/>
  </p:sldMasterIdLst>
  <p:notesMasterIdLst>
    <p:notesMasterId r:id="rId9"/>
  </p:notesMasterIdLst>
  <p:handoutMasterIdLst>
    <p:handoutMasterId r:id="rId17"/>
  </p:handoutMasterIdLst>
  <p:sldIdLst>
    <p:sldId id="256" r:id="rId5"/>
    <p:sldId id="260" r:id="rId6"/>
    <p:sldId id="263" r:id="rId7"/>
    <p:sldId id="286" r:id="rId8"/>
    <p:sldId id="280" r:id="rId10"/>
    <p:sldId id="307" r:id="rId11"/>
    <p:sldId id="293" r:id="rId12"/>
    <p:sldId id="297" r:id="rId13"/>
    <p:sldId id="318" r:id="rId14"/>
    <p:sldId id="319" r:id="rId15"/>
    <p:sldId id="258" r:id="rId16"/>
  </p:sldIdLst>
  <p:sldSz cx="12192000" cy="6858000"/>
  <p:notesSz cx="6807200" cy="993902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9" userDrawn="1">
          <p15:clr>
            <a:srgbClr val="A4A3A4"/>
          </p15:clr>
        </p15:guide>
        <p15:guide id="2" pos="3859" userDrawn="1">
          <p15:clr>
            <a:srgbClr val="A4A3A4"/>
          </p15:clr>
        </p15:guide>
        <p15:guide id="3" orient="horz" pos="40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BF5"/>
    <a:srgbClr val="4472C4"/>
    <a:srgbClr val="CFD5EA"/>
    <a:srgbClr val="E9EDF0"/>
    <a:srgbClr val="F9FBFA"/>
    <a:srgbClr val="F4F9F5"/>
    <a:srgbClr val="F7F9F6"/>
    <a:srgbClr val="F9FBF8"/>
    <a:srgbClr val="DEEBF7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38" autoAdjust="0"/>
  </p:normalViewPr>
  <p:slideViewPr>
    <p:cSldViewPr snapToGrid="0" showGuides="1">
      <p:cViewPr varScale="1">
        <p:scale>
          <a:sx n="98" d="100"/>
          <a:sy n="98" d="100"/>
        </p:scale>
        <p:origin x="72" y="216"/>
      </p:cViewPr>
      <p:guideLst>
        <p:guide orient="horz" pos="2349"/>
        <p:guide pos="3859"/>
        <p:guide orient="horz" pos="40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5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344"/>
            <a:ext cx="2949787" cy="4986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8" y="9440344"/>
            <a:ext cx="2949787" cy="4986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494917AA-CAD3-4A2B-989A-C9C413319B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1" y="4783307"/>
            <a:ext cx="5445760" cy="3913615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40646"/>
            <a:ext cx="2949786" cy="498692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9" y="9440646"/>
            <a:ext cx="2949786" cy="498692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78E89F95-D218-413D-8B19-A14D9093D5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89F95-D218-413D-8B19-A14D9093D5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89F95-D218-413D-8B19-A14D9093D5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"/>
            <a:ext cx="12192000" cy="1494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775201" y="1979567"/>
            <a:ext cx="7416800" cy="1347745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4775201" y="3048019"/>
            <a:ext cx="7416800" cy="763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3041055"/>
            <a:ext cx="12221029" cy="0"/>
          </a:xfrm>
          <a:prstGeom prst="line">
            <a:avLst/>
          </a:prstGeom>
          <a:ln>
            <a:solidFill>
              <a:srgbClr val="0080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586133" y="6212114"/>
            <a:ext cx="4605867" cy="645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矩形 11"/>
          <p:cNvSpPr/>
          <p:nvPr userDrawn="1"/>
        </p:nvSpPr>
        <p:spPr>
          <a:xfrm>
            <a:off x="0" y="1"/>
            <a:ext cx="12192000" cy="1011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标题 1"/>
          <p:cNvSpPr>
            <a:spLocks noGrp="1"/>
          </p:cNvSpPr>
          <p:nvPr>
            <p:ph type="ctrTitle"/>
          </p:nvPr>
        </p:nvSpPr>
        <p:spPr>
          <a:xfrm>
            <a:off x="535709" y="1281461"/>
            <a:ext cx="10972800" cy="1641451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35709" y="3074711"/>
            <a:ext cx="10972800" cy="816691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l="10282" r="11992" b="27492"/>
          <a:stretch>
            <a:fillRect/>
          </a:stretch>
        </p:blipFill>
        <p:spPr>
          <a:xfrm>
            <a:off x="0" y="4224869"/>
            <a:ext cx="12192000" cy="263313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print"/>
          <a:srcRect l="2512" b="27492"/>
          <a:stretch>
            <a:fillRect/>
          </a:stretch>
        </p:blipFill>
        <p:spPr>
          <a:xfrm>
            <a:off x="1" y="5548626"/>
            <a:ext cx="6809753" cy="1172576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13984"/>
            <a:ext cx="12192000" cy="144016"/>
          </a:xfrm>
          <a:prstGeom prst="rect">
            <a:avLst/>
          </a:prstGeom>
          <a:solidFill>
            <a:srgbClr val="0080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2"/>
            <a:ext cx="3288149" cy="6857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68157" y="2059182"/>
            <a:ext cx="7887243" cy="2333452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添加目录</a:t>
            </a:r>
            <a:endParaRPr lang="zh-CN" altLang="en-US" dirty="0"/>
          </a:p>
        </p:txBody>
      </p:sp>
      <p:sp>
        <p:nvSpPr>
          <p:cNvPr id="26" name="文本框 25"/>
          <p:cNvSpPr txBox="1"/>
          <p:nvPr userDrawn="1"/>
        </p:nvSpPr>
        <p:spPr>
          <a:xfrm>
            <a:off x="1377255" y="838201"/>
            <a:ext cx="2581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1136438" y="1484531"/>
            <a:ext cx="214258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/>
        </p:nvCxnSpPr>
        <p:spPr>
          <a:xfrm>
            <a:off x="3275130" y="1484531"/>
            <a:ext cx="8916871" cy="0"/>
          </a:xfrm>
          <a:prstGeom prst="line">
            <a:avLst/>
          </a:prstGeom>
          <a:ln>
            <a:solidFill>
              <a:srgbClr val="0080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/>
          <a:srcRect l="2963" b="14655"/>
          <a:stretch>
            <a:fillRect/>
          </a:stretch>
        </p:blipFill>
        <p:spPr>
          <a:xfrm>
            <a:off x="2" y="4088778"/>
            <a:ext cx="3288149" cy="2769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 userDrawn="1"/>
        </p:nvSpPr>
        <p:spPr>
          <a:xfrm>
            <a:off x="226782" y="241548"/>
            <a:ext cx="38157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第一部分  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一季度总体指标完成情况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226782" y="241548"/>
            <a:ext cx="29013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第二部分   </a:t>
            </a:r>
            <a:r>
              <a:rPr 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一季度工作进展</a:t>
            </a:r>
            <a:endParaRPr lang="zh-CN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226782" y="241548"/>
            <a:ext cx="3129915" cy="798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第三部分   存在的问题及不足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spcAft>
                <a:spcPts val="1200"/>
              </a:spcAft>
            </a:pP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226782" y="241548"/>
            <a:ext cx="29013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第四部分   二季度工作计划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226782" y="241548"/>
            <a:ext cx="45015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第五部分   需要总部协助解决的问题及建议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226782" y="241548"/>
            <a:ext cx="45015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第五部分   </a:t>
            </a:r>
            <a:r>
              <a:rPr lang="zh-CN" altLang="zh-CN" sz="1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需要总部协助解决的问题及建议</a:t>
            </a:r>
            <a:endParaRPr lang="zh-CN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1"/>
            <a:ext cx="12192000" cy="1011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3176" y="1620983"/>
            <a:ext cx="7126480" cy="1589924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2784764"/>
            <a:ext cx="12192000" cy="409194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b="30010"/>
          <a:stretch>
            <a:fillRect/>
          </a:stretch>
        </p:blipFill>
        <p:spPr>
          <a:xfrm>
            <a:off x="7645096" y="2373314"/>
            <a:ext cx="4089705" cy="520993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</p:nvPr>
        </p:nvSpPr>
        <p:spPr>
          <a:xfrm>
            <a:off x="535709" y="2886566"/>
            <a:ext cx="10972800" cy="1641451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结束语</a:t>
            </a:r>
            <a:endParaRPr lang="zh-CN" altLang="en-US" dirty="0"/>
          </a:p>
        </p:txBody>
      </p:sp>
      <p:sp>
        <p:nvSpPr>
          <p:cNvPr id="11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35709" y="4551949"/>
            <a:ext cx="10972800" cy="816691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10837428" y="6531307"/>
            <a:ext cx="769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i="1" dirty="0">
                <a:solidFill>
                  <a:srgbClr val="00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Lwy</a:t>
            </a:r>
            <a:r>
              <a:rPr lang="zh-CN" altLang="en-US" sz="1200" i="1" dirty="0">
                <a:solidFill>
                  <a:srgbClr val="00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  <a:endParaRPr lang="zh-CN" altLang="en-US" sz="1200" i="1" dirty="0">
              <a:solidFill>
                <a:srgbClr val="005A9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"/>
            <a:ext cx="12192000" cy="1494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775201" y="1979567"/>
            <a:ext cx="7416800" cy="1347745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4775201" y="3048019"/>
            <a:ext cx="7416800" cy="763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3041055"/>
            <a:ext cx="12221029" cy="0"/>
          </a:xfrm>
          <a:prstGeom prst="line">
            <a:avLst/>
          </a:prstGeom>
          <a:ln>
            <a:solidFill>
              <a:srgbClr val="0080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586133" y="6212114"/>
            <a:ext cx="4605867" cy="645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矩形 11"/>
          <p:cNvSpPr/>
          <p:nvPr userDrawn="1"/>
        </p:nvSpPr>
        <p:spPr>
          <a:xfrm>
            <a:off x="0" y="1"/>
            <a:ext cx="12192000" cy="1011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标题 1"/>
          <p:cNvSpPr>
            <a:spLocks noGrp="1"/>
          </p:cNvSpPr>
          <p:nvPr>
            <p:ph type="ctrTitle"/>
          </p:nvPr>
        </p:nvSpPr>
        <p:spPr>
          <a:xfrm>
            <a:off x="535709" y="1281461"/>
            <a:ext cx="10972800" cy="1641451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35709" y="3074711"/>
            <a:ext cx="10972800" cy="816691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l="10282" r="11992" b="27492"/>
          <a:stretch>
            <a:fillRect/>
          </a:stretch>
        </p:blipFill>
        <p:spPr>
          <a:xfrm>
            <a:off x="0" y="4224869"/>
            <a:ext cx="12192000" cy="263313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print"/>
          <a:srcRect l="2512" b="27492"/>
          <a:stretch>
            <a:fillRect/>
          </a:stretch>
        </p:blipFill>
        <p:spPr>
          <a:xfrm>
            <a:off x="1" y="5548626"/>
            <a:ext cx="6809753" cy="1172576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13984"/>
            <a:ext cx="12192000" cy="144016"/>
          </a:xfrm>
          <a:prstGeom prst="rect">
            <a:avLst/>
          </a:prstGeom>
          <a:solidFill>
            <a:srgbClr val="0080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2"/>
            <a:ext cx="3288149" cy="6857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68157" y="2059182"/>
            <a:ext cx="7887243" cy="2333452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添加目录</a:t>
            </a:r>
            <a:endParaRPr lang="zh-CN" altLang="en-US" dirty="0"/>
          </a:p>
        </p:txBody>
      </p:sp>
      <p:sp>
        <p:nvSpPr>
          <p:cNvPr id="26" name="文本框 25"/>
          <p:cNvSpPr txBox="1"/>
          <p:nvPr userDrawn="1"/>
        </p:nvSpPr>
        <p:spPr>
          <a:xfrm>
            <a:off x="1377255" y="838201"/>
            <a:ext cx="2581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1136438" y="1484531"/>
            <a:ext cx="214258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/>
        </p:nvCxnSpPr>
        <p:spPr>
          <a:xfrm>
            <a:off x="3275130" y="1484531"/>
            <a:ext cx="8916871" cy="0"/>
          </a:xfrm>
          <a:prstGeom prst="line">
            <a:avLst/>
          </a:prstGeom>
          <a:ln>
            <a:solidFill>
              <a:srgbClr val="0080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/>
          <a:srcRect l="2963" b="14655"/>
          <a:stretch>
            <a:fillRect/>
          </a:stretch>
        </p:blipFill>
        <p:spPr>
          <a:xfrm>
            <a:off x="2" y="4088778"/>
            <a:ext cx="3288149" cy="2769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 userDrawn="1"/>
        </p:nvSpPr>
        <p:spPr>
          <a:xfrm>
            <a:off x="226782" y="241548"/>
            <a:ext cx="42729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第一部分   </a:t>
            </a:r>
            <a:r>
              <a:rPr 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一季度主要预算指标完成情况</a:t>
            </a:r>
            <a:endParaRPr lang="zh-CN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226782" y="241548"/>
            <a:ext cx="29013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第二部分   </a:t>
            </a:r>
            <a:r>
              <a:rPr 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一季度工作进展</a:t>
            </a:r>
            <a:endParaRPr lang="zh-CN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226782" y="241548"/>
            <a:ext cx="31299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第三部分   存在的问题及风险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226782" y="241548"/>
            <a:ext cx="29013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第四部分   二季度工作计划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226782" y="241548"/>
            <a:ext cx="45015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第五部分   需要总部协助解决的问题及建议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226782" y="241548"/>
            <a:ext cx="45015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第五部分   </a:t>
            </a:r>
            <a:r>
              <a:rPr lang="zh-CN" altLang="zh-CN" sz="1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需要总部协助解决的问题及建议</a:t>
            </a:r>
            <a:endParaRPr lang="zh-CN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1"/>
            <a:ext cx="12192000" cy="1011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3176" y="1620983"/>
            <a:ext cx="7126480" cy="1589924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2784764"/>
            <a:ext cx="12192000" cy="409194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b="30010"/>
          <a:stretch>
            <a:fillRect/>
          </a:stretch>
        </p:blipFill>
        <p:spPr>
          <a:xfrm>
            <a:off x="7645096" y="2373314"/>
            <a:ext cx="4089705" cy="520993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</p:nvPr>
        </p:nvSpPr>
        <p:spPr>
          <a:xfrm>
            <a:off x="535709" y="2886566"/>
            <a:ext cx="10972800" cy="1641451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结束语</a:t>
            </a:r>
            <a:endParaRPr lang="zh-CN" altLang="en-US" dirty="0"/>
          </a:p>
        </p:txBody>
      </p:sp>
      <p:sp>
        <p:nvSpPr>
          <p:cNvPr id="11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35709" y="4551949"/>
            <a:ext cx="10972800" cy="816691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10837428" y="6531307"/>
            <a:ext cx="769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i="1" dirty="0">
                <a:solidFill>
                  <a:srgbClr val="00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Lwy</a:t>
            </a:r>
            <a:r>
              <a:rPr lang="zh-CN" altLang="en-US" sz="1200" i="1" dirty="0">
                <a:solidFill>
                  <a:srgbClr val="00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  <a:endParaRPr lang="zh-CN" altLang="en-US" sz="1200" i="1" dirty="0">
              <a:solidFill>
                <a:srgbClr val="005A9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微信图片_20260417170759_7057_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338060" y="5472430"/>
            <a:ext cx="3686175" cy="5353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2"/>
            <a:ext cx="12192000" cy="1494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775201" y="1979567"/>
            <a:ext cx="7416800" cy="1347745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4775201" y="3048019"/>
            <a:ext cx="7416800" cy="763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3041055"/>
            <a:ext cx="12221029" cy="0"/>
          </a:xfrm>
          <a:prstGeom prst="line">
            <a:avLst/>
          </a:prstGeom>
          <a:ln>
            <a:solidFill>
              <a:srgbClr val="0080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7586133" y="6212114"/>
            <a:ext cx="4605867" cy="645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矩形 11"/>
          <p:cNvSpPr/>
          <p:nvPr userDrawn="1"/>
        </p:nvSpPr>
        <p:spPr>
          <a:xfrm>
            <a:off x="0" y="1"/>
            <a:ext cx="12192000" cy="1011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标题 1"/>
          <p:cNvSpPr>
            <a:spLocks noGrp="1"/>
          </p:cNvSpPr>
          <p:nvPr>
            <p:ph type="ctrTitle"/>
          </p:nvPr>
        </p:nvSpPr>
        <p:spPr>
          <a:xfrm>
            <a:off x="535709" y="1281461"/>
            <a:ext cx="10972800" cy="1641451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35709" y="3074711"/>
            <a:ext cx="10972800" cy="816691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l="10282" r="11992" b="27492"/>
          <a:stretch>
            <a:fillRect/>
          </a:stretch>
        </p:blipFill>
        <p:spPr>
          <a:xfrm>
            <a:off x="0" y="4224869"/>
            <a:ext cx="12192000" cy="263313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print"/>
          <a:srcRect l="2512" b="27492"/>
          <a:stretch>
            <a:fillRect/>
          </a:stretch>
        </p:blipFill>
        <p:spPr>
          <a:xfrm>
            <a:off x="1" y="5548626"/>
            <a:ext cx="6809753" cy="1172576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13984"/>
            <a:ext cx="12192000" cy="144016"/>
          </a:xfrm>
          <a:prstGeom prst="rect">
            <a:avLst/>
          </a:prstGeom>
          <a:solidFill>
            <a:srgbClr val="0080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2"/>
            <a:ext cx="3288149" cy="6857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68157" y="2059182"/>
            <a:ext cx="7887243" cy="2333452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添加目录</a:t>
            </a:r>
            <a:endParaRPr lang="zh-CN" altLang="en-US" dirty="0"/>
          </a:p>
        </p:txBody>
      </p:sp>
      <p:sp>
        <p:nvSpPr>
          <p:cNvPr id="26" name="文本框 25"/>
          <p:cNvSpPr txBox="1"/>
          <p:nvPr userDrawn="1"/>
        </p:nvSpPr>
        <p:spPr>
          <a:xfrm>
            <a:off x="1377255" y="838201"/>
            <a:ext cx="2581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1136438" y="1484531"/>
            <a:ext cx="214258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/>
        </p:nvCxnSpPr>
        <p:spPr>
          <a:xfrm>
            <a:off x="3275130" y="1484531"/>
            <a:ext cx="8916871" cy="0"/>
          </a:xfrm>
          <a:prstGeom prst="line">
            <a:avLst/>
          </a:prstGeom>
          <a:ln>
            <a:solidFill>
              <a:srgbClr val="0080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/>
          <a:srcRect l="2963" b="14655"/>
          <a:stretch>
            <a:fillRect/>
          </a:stretch>
        </p:blipFill>
        <p:spPr>
          <a:xfrm>
            <a:off x="2" y="4088778"/>
            <a:ext cx="3288149" cy="2769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 userDrawn="1"/>
        </p:nvSpPr>
        <p:spPr>
          <a:xfrm>
            <a:off x="226782" y="241548"/>
            <a:ext cx="42729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第一部分  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一季度主要预算指标完成情况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226782" y="241548"/>
            <a:ext cx="38157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第二部分   一季度重点工作完成情况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226782" y="241548"/>
            <a:ext cx="3129915" cy="798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第三部分   存在的问题及风险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spcAft>
                <a:spcPts val="1200"/>
              </a:spcAft>
            </a:pP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226782" y="241548"/>
            <a:ext cx="29013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第四部分   二季度工作计划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648130" y="46556"/>
            <a:ext cx="3475021" cy="84132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032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226782" y="241548"/>
            <a:ext cx="450151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第五部分   </a:t>
            </a:r>
            <a:r>
              <a:rPr lang="zh-CN" altLang="zh-CN" sz="1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需要总部协助解决的问题及建议</a:t>
            </a:r>
            <a:endParaRPr lang="zh-CN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1"/>
            <a:ext cx="12192000" cy="1011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3176" y="1620983"/>
            <a:ext cx="7126480" cy="1589924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2784764"/>
            <a:ext cx="12192000" cy="409194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b="30010"/>
          <a:stretch>
            <a:fillRect/>
          </a:stretch>
        </p:blipFill>
        <p:spPr>
          <a:xfrm>
            <a:off x="7645096" y="2373314"/>
            <a:ext cx="4089705" cy="520993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</p:nvPr>
        </p:nvSpPr>
        <p:spPr>
          <a:xfrm>
            <a:off x="535709" y="2886566"/>
            <a:ext cx="10972800" cy="1641451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结束语</a:t>
            </a:r>
            <a:endParaRPr lang="zh-CN" altLang="en-US" dirty="0"/>
          </a:p>
        </p:txBody>
      </p:sp>
      <p:sp>
        <p:nvSpPr>
          <p:cNvPr id="11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35709" y="4551949"/>
            <a:ext cx="10972800" cy="816691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10837428" y="6531307"/>
            <a:ext cx="769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i="1" dirty="0">
                <a:solidFill>
                  <a:srgbClr val="00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Lwy</a:t>
            </a:r>
            <a:r>
              <a:rPr lang="zh-CN" altLang="en-US" sz="1200" i="1" dirty="0">
                <a:solidFill>
                  <a:srgbClr val="005A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  <a:endParaRPr lang="zh-CN" altLang="en-US" sz="1200" i="1" dirty="0">
              <a:solidFill>
                <a:srgbClr val="005A9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8.png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2" Type="http://schemas.openxmlformats.org/officeDocument/2006/relationships/theme" Target="../theme/theme2.xml"/><Relationship Id="rId21" Type="http://schemas.openxmlformats.org/officeDocument/2006/relationships/image" Target="../media/image8.png"/><Relationship Id="rId20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.xml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6" Type="http://schemas.openxmlformats.org/officeDocument/2006/relationships/theme" Target="../theme/theme3.xml"/><Relationship Id="rId15" Type="http://schemas.openxmlformats.org/officeDocument/2006/relationships/image" Target="../media/image8.png"/><Relationship Id="rId1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Slide Number Placeholder 5"/>
          <p:cNvSpPr txBox="1"/>
          <p:nvPr userDrawn="1"/>
        </p:nvSpPr>
        <p:spPr>
          <a:xfrm>
            <a:off x="11520418" y="6426202"/>
            <a:ext cx="768343" cy="28257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algn="ctr" defTabSz="457200" rtl="0" eaLnBrk="1" latinLnBrk="0" hangingPunct="1"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8BF7CA67-5589-4186-9742-7914EAD1F95A}" type="slidenum">
              <a:rPr lang="zh-CN" altLang="en-US" sz="14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</a:fld>
            <a:endParaRPr lang="zh-CN" altLang="en-US" sz="1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11423659" y="6426201"/>
            <a:ext cx="0" cy="28257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微信图片_20260417170759_7057_5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7640955" y="6323965"/>
            <a:ext cx="3686175" cy="5353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Slide Number Placeholder 5"/>
          <p:cNvSpPr txBox="1"/>
          <p:nvPr userDrawn="1"/>
        </p:nvSpPr>
        <p:spPr>
          <a:xfrm>
            <a:off x="11520418" y="6426202"/>
            <a:ext cx="768343" cy="28257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algn="ctr" defTabSz="457200" rtl="0" eaLnBrk="1" latinLnBrk="0" hangingPunct="1"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8BF7CA67-5589-4186-9742-7914EAD1F95A}" type="slidenum">
              <a:rPr lang="zh-CN" altLang="en-US" sz="14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</a:fld>
            <a:endParaRPr lang="zh-CN" altLang="en-US" sz="1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11423659" y="6426201"/>
            <a:ext cx="0" cy="28257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微信图片_20260417170759_7057_5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7640955" y="6311900"/>
            <a:ext cx="3686175" cy="5353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7CA67-5589-4186-9742-7914EAD1F95A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8369301" y="703214"/>
            <a:ext cx="3822700" cy="392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Slide Number Placeholder 5"/>
          <p:cNvSpPr txBox="1"/>
          <p:nvPr userDrawn="1"/>
        </p:nvSpPr>
        <p:spPr>
          <a:xfrm>
            <a:off x="11520418" y="6426202"/>
            <a:ext cx="768343" cy="282575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algn="ctr" defTabSz="457200" rtl="0" eaLnBrk="1" latinLnBrk="0" hangingPunct="1"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8BF7CA67-5589-4186-9742-7914EAD1F95A}" type="slidenum">
              <a:rPr lang="zh-CN" altLang="en-US" sz="14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</a:fld>
            <a:endParaRPr lang="zh-CN" altLang="en-US" sz="1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11423659" y="6426201"/>
            <a:ext cx="0" cy="28257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微信图片_20260417170759_7057_5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640955" y="6323965"/>
            <a:ext cx="3686175" cy="5353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2722485" y="2232481"/>
            <a:ext cx="6958245" cy="603809"/>
          </a:xfrm>
          <a:prstGeom prst="roundRect">
            <a:avLst>
              <a:gd name="adj" fmla="val 50000"/>
            </a:avLst>
          </a:prstGeom>
          <a:solidFill>
            <a:srgbClr val="0080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年一季度工作汇报</a:t>
            </a:r>
            <a:endParaRPr lang="zh-CN" altLang="en-US" sz="28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PA_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925782" y="88778"/>
            <a:ext cx="8229600" cy="772356"/>
          </a:xfrm>
        </p:spPr>
        <p:txBody>
          <a:bodyPr>
            <a:normAutofit fontScale="90000"/>
          </a:bodyPr>
          <a:lstStyle/>
          <a:p>
            <a:br>
              <a:rPr lang="en-US" altLang="zh-CN" dirty="0"/>
            </a:b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44675" y="1278255"/>
            <a:ext cx="905510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0080C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行政</a:t>
            </a:r>
            <a:r>
              <a:rPr lang="zh-CN" altLang="en-US" sz="4800" b="1" dirty="0">
                <a:solidFill>
                  <a:srgbClr val="0080C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办公项目组</a:t>
            </a:r>
            <a:endParaRPr lang="zh-CN" altLang="en-US" sz="4800" b="1" dirty="0">
              <a:solidFill>
                <a:srgbClr val="0080C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83726" y="3318429"/>
            <a:ext cx="341333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高明毅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333917" y="4026058"/>
            <a:ext cx="341333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 descr="微信图片_20260417170759_7057_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83710" y="4733290"/>
            <a:ext cx="3686175" cy="535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/>
          <p:cNvSpPr/>
          <p:nvPr>
            <p:custDataLst>
              <p:tags r:id="rId1"/>
            </p:custDataLst>
          </p:nvPr>
        </p:nvSpPr>
        <p:spPr>
          <a:xfrm>
            <a:off x="5556885" y="1757680"/>
            <a:ext cx="5525770" cy="635000"/>
          </a:xfrm>
          <a:prstGeom prst="roundRect">
            <a:avLst/>
          </a:prstGeom>
          <a:noFill/>
          <a:ln w="6350">
            <a:solidFill>
              <a:srgbClr val="0080CB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矩形: 圆角 3"/>
          <p:cNvSpPr/>
          <p:nvPr>
            <p:custDataLst>
              <p:tags r:id="rId2"/>
            </p:custDataLst>
          </p:nvPr>
        </p:nvSpPr>
        <p:spPr>
          <a:xfrm>
            <a:off x="5556885" y="2854960"/>
            <a:ext cx="5525770" cy="635000"/>
          </a:xfrm>
          <a:prstGeom prst="roundRect">
            <a:avLst/>
          </a:prstGeom>
          <a:noFill/>
          <a:ln w="6350">
            <a:solidFill>
              <a:srgbClr val="0080CB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矩形: 圆角 4"/>
          <p:cNvSpPr/>
          <p:nvPr>
            <p:custDataLst>
              <p:tags r:id="rId3"/>
            </p:custDataLst>
          </p:nvPr>
        </p:nvSpPr>
        <p:spPr>
          <a:xfrm>
            <a:off x="5556885" y="3961765"/>
            <a:ext cx="5525135" cy="635000"/>
          </a:xfrm>
          <a:prstGeom prst="roundRect">
            <a:avLst/>
          </a:prstGeom>
          <a:noFill/>
          <a:ln w="6350">
            <a:solidFill>
              <a:srgbClr val="0080CB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: 圆角 5"/>
          <p:cNvSpPr/>
          <p:nvPr>
            <p:custDataLst>
              <p:tags r:id="rId4"/>
            </p:custDataLst>
          </p:nvPr>
        </p:nvSpPr>
        <p:spPr>
          <a:xfrm>
            <a:off x="5556885" y="1855470"/>
            <a:ext cx="5443855" cy="4394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36000" rtlCol="0" anchor="ctr"/>
          <a:lstStyle/>
          <a:p>
            <a:pPr>
              <a:spcAft>
                <a:spcPts val="1200"/>
              </a:spcAft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一季度总体指标完成情况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5556885" y="2952750"/>
            <a:ext cx="5443855" cy="4394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36000" rtlCol="0" anchor="ctr"/>
          <a:lstStyle/>
          <a:p>
            <a:pPr>
              <a:spcAft>
                <a:spcPts val="1200"/>
              </a:spcAft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一季度工作进展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: 圆角 7"/>
          <p:cNvSpPr/>
          <p:nvPr>
            <p:custDataLst>
              <p:tags r:id="rId6"/>
            </p:custDataLst>
          </p:nvPr>
        </p:nvSpPr>
        <p:spPr>
          <a:xfrm>
            <a:off x="5556885" y="4059555"/>
            <a:ext cx="5443220" cy="4394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36000" rtlCol="0" anchor="ctr"/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存在的问题及不足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: 圆角 8"/>
          <p:cNvSpPr/>
          <p:nvPr>
            <p:custDataLst>
              <p:tags r:id="rId7"/>
            </p:custDataLst>
          </p:nvPr>
        </p:nvSpPr>
        <p:spPr>
          <a:xfrm>
            <a:off x="3913505" y="1855470"/>
            <a:ext cx="1875155" cy="43942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cs typeface="+mn-ea"/>
                <a:sym typeface="+mn-lt"/>
              </a:rPr>
              <a:t>第一部分</a:t>
            </a:r>
            <a:endParaRPr lang="zh-CN" altLang="en-US" sz="2400" b="1" dirty="0">
              <a:cs typeface="+mn-ea"/>
              <a:sym typeface="+mn-lt"/>
            </a:endParaRPr>
          </a:p>
        </p:txBody>
      </p:sp>
      <p:sp>
        <p:nvSpPr>
          <p:cNvPr id="10" name="矩形: 圆角 9"/>
          <p:cNvSpPr/>
          <p:nvPr>
            <p:custDataLst>
              <p:tags r:id="rId8"/>
            </p:custDataLst>
          </p:nvPr>
        </p:nvSpPr>
        <p:spPr>
          <a:xfrm>
            <a:off x="3913505" y="2952750"/>
            <a:ext cx="1875155" cy="43942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cs typeface="+mn-ea"/>
                <a:sym typeface="+mn-lt"/>
              </a:rPr>
              <a:t>第二部分</a:t>
            </a:r>
            <a:endParaRPr lang="zh-CN" altLang="en-US" sz="2400" b="1" dirty="0">
              <a:cs typeface="+mn-ea"/>
              <a:sym typeface="+mn-lt"/>
            </a:endParaRPr>
          </a:p>
        </p:txBody>
      </p:sp>
      <p:sp>
        <p:nvSpPr>
          <p:cNvPr id="11" name="矩形: 圆角 10"/>
          <p:cNvSpPr/>
          <p:nvPr>
            <p:custDataLst>
              <p:tags r:id="rId9"/>
            </p:custDataLst>
          </p:nvPr>
        </p:nvSpPr>
        <p:spPr>
          <a:xfrm>
            <a:off x="3913505" y="4059555"/>
            <a:ext cx="1875155" cy="43942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cs typeface="+mn-ea"/>
                <a:sym typeface="+mn-lt"/>
              </a:rPr>
              <a:t>第三部分</a:t>
            </a:r>
            <a:endParaRPr lang="zh-CN" altLang="en-US" sz="2400" b="1" dirty="0">
              <a:cs typeface="+mn-ea"/>
              <a:sym typeface="+mn-lt"/>
            </a:endParaRPr>
          </a:p>
        </p:txBody>
      </p:sp>
      <p:sp>
        <p:nvSpPr>
          <p:cNvPr id="12" name="矩形: 圆角 4"/>
          <p:cNvSpPr/>
          <p:nvPr>
            <p:custDataLst>
              <p:tags r:id="rId10"/>
            </p:custDataLst>
          </p:nvPr>
        </p:nvSpPr>
        <p:spPr>
          <a:xfrm>
            <a:off x="5556885" y="5068570"/>
            <a:ext cx="5525135" cy="635000"/>
          </a:xfrm>
          <a:prstGeom prst="roundRect">
            <a:avLst/>
          </a:prstGeom>
          <a:noFill/>
          <a:ln w="6350">
            <a:solidFill>
              <a:srgbClr val="0080CB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: 圆角 7"/>
          <p:cNvSpPr/>
          <p:nvPr>
            <p:custDataLst>
              <p:tags r:id="rId11"/>
            </p:custDataLst>
          </p:nvPr>
        </p:nvSpPr>
        <p:spPr>
          <a:xfrm>
            <a:off x="5556885" y="5166360"/>
            <a:ext cx="5443220" cy="4394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36000" rtlCol="0" anchor="ctr"/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二季度工作计划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矩形: 圆角 10"/>
          <p:cNvSpPr/>
          <p:nvPr>
            <p:custDataLst>
              <p:tags r:id="rId12"/>
            </p:custDataLst>
          </p:nvPr>
        </p:nvSpPr>
        <p:spPr>
          <a:xfrm>
            <a:off x="3913505" y="5166360"/>
            <a:ext cx="1875155" cy="43942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cs typeface="+mn-ea"/>
                <a:sym typeface="+mn-lt"/>
              </a:rPr>
              <a:t>第四部分</a:t>
            </a:r>
            <a:endParaRPr lang="zh-CN" altLang="en-US" sz="2400" b="1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223135" y="3025775"/>
            <a:ext cx="9417685" cy="880745"/>
          </a:xfrm>
        </p:spPr>
        <p:txBody>
          <a:bodyPr>
            <a:noAutofit/>
          </a:bodyPr>
          <a:lstStyle/>
          <a:p>
            <a:r>
              <a:rPr lang="zh-CN" altLang="en-US" sz="4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一季度总体指标完成情况</a:t>
            </a:r>
            <a:endParaRPr lang="zh-CN" altLang="en-US" sz="4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2223015" y="2062558"/>
            <a:ext cx="4330140" cy="1179830"/>
          </a:xfrm>
        </p:spPr>
        <p:txBody>
          <a:bodyPr>
            <a:normAutofit/>
          </a:bodyPr>
          <a:lstStyle/>
          <a:p>
            <a:r>
              <a:rPr lang="zh-CN" altLang="en-US" sz="4400" b="1" dirty="0">
                <a:solidFill>
                  <a:srgbClr val="0070C0"/>
                </a:solidFill>
              </a:rPr>
              <a:t>第一部分</a:t>
            </a:r>
            <a:endParaRPr lang="zh-CN" altLang="en-US" sz="4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3685" y="1337945"/>
          <a:ext cx="11677650" cy="6037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00"/>
                <a:gridCol w="1063625"/>
                <a:gridCol w="3038475"/>
                <a:gridCol w="2440940"/>
                <a:gridCol w="2200910"/>
              </a:tblGrid>
              <a:tr h="41465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600" spc="120" dirty="0" err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指标名称</a:t>
                      </a:r>
                      <a:endParaRPr lang="en-US" sz="1600" spc="120" dirty="0" err="1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600" spc="120" dirty="0" err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</a:t>
                      </a:r>
                      <a:endParaRPr lang="en-US" sz="1600" spc="120" dirty="0" err="1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600" spc="120" dirty="0" err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一季度实际完成 </a:t>
                      </a:r>
                      <a:endParaRPr lang="en-US" sz="1600" spc="120" dirty="0" err="1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600" spc="120" dirty="0" err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预算目标</a:t>
                      </a:r>
                      <a:endParaRPr lang="en-US" sz="1600" spc="120" dirty="0" err="1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sz="1600" spc="120" dirty="0" err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预算完成率</a:t>
                      </a:r>
                      <a:endParaRPr lang="en-US" sz="1600" spc="120" dirty="0" err="1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333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中标额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6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合同额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6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33.13</a:t>
                      </a: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营业收入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600" spc="12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6.25</a:t>
                      </a:r>
                      <a:endParaRPr lang="en-US" altLang="en-US" sz="1600" spc="12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</a:tr>
              <a:tr h="333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利润额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600" spc="12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243.67</a:t>
                      </a:r>
                      <a:endParaRPr lang="en-US" altLang="en-US" sz="1600" spc="12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回款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600" spc="12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313.8</a:t>
                      </a:r>
                      <a:endParaRPr lang="en-US" altLang="en-US" sz="1600" spc="12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</a:tr>
              <a:tr h="333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其中：现金部分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6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313.8</a:t>
                      </a: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非现金部分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600" spc="12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en-US" sz="1600" spc="12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负流项目个数占比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600" spc="12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en-US" sz="1600" spc="12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总负流金额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600" spc="12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endParaRPr lang="zh-CN" altLang="en-US" sz="1600" spc="120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6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-85.3</a:t>
                      </a: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1600" spc="12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350" marB="63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223135" y="3025775"/>
            <a:ext cx="9648190" cy="880745"/>
          </a:xfrm>
        </p:spPr>
        <p:txBody>
          <a:bodyPr>
            <a:noAutofit/>
          </a:bodyPr>
          <a:lstStyle/>
          <a:p>
            <a:r>
              <a:rPr lang="zh-CN" altLang="en-US" sz="4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一季度工作进展</a:t>
            </a:r>
            <a:endParaRPr lang="zh-CN" altLang="en-US" sz="4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2223015" y="2062558"/>
            <a:ext cx="4330140" cy="1179830"/>
          </a:xfrm>
        </p:spPr>
        <p:txBody>
          <a:bodyPr>
            <a:normAutofit/>
          </a:bodyPr>
          <a:lstStyle/>
          <a:p>
            <a:r>
              <a:rPr lang="zh-CN" altLang="en-US" sz="4400" b="1" dirty="0">
                <a:solidFill>
                  <a:srgbClr val="0070C0"/>
                </a:solidFill>
              </a:rPr>
              <a:t>第二部分</a:t>
            </a:r>
            <a:endParaRPr lang="zh-CN" altLang="en-US" sz="4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6710" y="826770"/>
            <a:ext cx="6096000" cy="810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3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一、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XXXXX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3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223016" y="3025673"/>
            <a:ext cx="7890803" cy="880502"/>
          </a:xfrm>
        </p:spPr>
        <p:txBody>
          <a:bodyPr>
            <a:noAutofit/>
          </a:bodyPr>
          <a:lstStyle/>
          <a:p>
            <a:r>
              <a:rPr lang="zh-CN" altLang="en-US" sz="4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存在的问题及不足</a:t>
            </a:r>
            <a:endParaRPr lang="zh-CN" altLang="en-US" sz="4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2223015" y="2062558"/>
            <a:ext cx="4330140" cy="1179830"/>
          </a:xfrm>
        </p:spPr>
        <p:txBody>
          <a:bodyPr>
            <a:normAutofit/>
          </a:bodyPr>
          <a:lstStyle/>
          <a:p>
            <a:r>
              <a:rPr lang="zh-CN" altLang="en-US" sz="4400" b="1" dirty="0">
                <a:solidFill>
                  <a:srgbClr val="0070C0"/>
                </a:solidFill>
              </a:rPr>
              <a:t>第三部分</a:t>
            </a:r>
            <a:endParaRPr lang="zh-CN" altLang="en-US" sz="4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46710" y="826770"/>
            <a:ext cx="6096000" cy="450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3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223016" y="3025673"/>
            <a:ext cx="7890803" cy="880502"/>
          </a:xfrm>
        </p:spPr>
        <p:txBody>
          <a:bodyPr>
            <a:noAutofit/>
          </a:bodyPr>
          <a:lstStyle/>
          <a:p>
            <a:r>
              <a:rPr lang="zh-CN" altLang="en-US" sz="4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二季度工作计划</a:t>
            </a:r>
            <a:endParaRPr lang="zh-CN" altLang="en-US" sz="4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2223015" y="2062558"/>
            <a:ext cx="4330140" cy="1179830"/>
          </a:xfrm>
        </p:spPr>
        <p:txBody>
          <a:bodyPr>
            <a:normAutofit/>
          </a:bodyPr>
          <a:lstStyle/>
          <a:p>
            <a:r>
              <a:rPr lang="zh-CN" altLang="en-US" sz="4400" b="1" dirty="0">
                <a:solidFill>
                  <a:srgbClr val="0070C0"/>
                </a:solidFill>
              </a:rPr>
              <a:t>第四部分</a:t>
            </a:r>
            <a:endParaRPr lang="zh-CN" altLang="en-US" sz="4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8645" y="1069975"/>
            <a:ext cx="10740390" cy="450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3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1981200" y="1281461"/>
            <a:ext cx="8229600" cy="96825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汇报结束，敬请指导！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945946" y="2640921"/>
            <a:ext cx="6008915" cy="408718"/>
          </a:xfrm>
        </p:spPr>
        <p:txBody>
          <a:bodyPr>
            <a:normAutofit fontScale="70000"/>
          </a:bodyPr>
          <a:lstStyle/>
          <a:p>
            <a:pPr>
              <a:lnSpc>
                <a:spcPct val="110000"/>
              </a:lnSpc>
            </a:pPr>
            <a:r>
              <a:rPr lang="zh-CN" altLang="zh-CN" dirty="0"/>
              <a:t>2026年4月</a:t>
            </a:r>
            <a:r>
              <a:rPr lang="en-US" altLang="zh-CN" dirty="0"/>
              <a:t>28</a:t>
            </a:r>
            <a:r>
              <a:rPr lang="zh-CN" altLang="zh-CN" dirty="0"/>
              <a:t>日</a:t>
            </a:r>
            <a:endParaRPr lang="zh-CN" altLang="zh-CN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3018971" y="2249714"/>
            <a:ext cx="60089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微信图片_20260417170759_7057_5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4107180" y="3593465"/>
            <a:ext cx="3686175" cy="53530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KSO_WM_DIAGRAM_VIRTUALLY_FRAME" val="{&quot;height&quot;:364.497716535433,&quot;left&quot;:308.15,&quot;top&quot;:138.4,&quot;width&quot;:567.85}"/>
</p:tagLst>
</file>

<file path=ppt/tags/tag3.xml><?xml version="1.0" encoding="utf-8"?>
<p:tagLst xmlns:p="http://schemas.openxmlformats.org/presentationml/2006/main">
  <p:tag name="KSO_WM_DIAGRAM_VIRTUALLY_FRAME" val="{&quot;height&quot;:364.497716535433,&quot;left&quot;:308.15,&quot;top&quot;:138.4,&quot;width&quot;:567.85}"/>
</p:tagLst>
</file>

<file path=ppt/tags/tag4.xml><?xml version="1.0" encoding="utf-8"?>
<p:tagLst xmlns:p="http://schemas.openxmlformats.org/presentationml/2006/main">
  <p:tag name="KSO_WM_DIAGRAM_VIRTUALLY_FRAME" val="{&quot;height&quot;:364.497716535433,&quot;left&quot;:308.15,&quot;top&quot;:138.4,&quot;width&quot;:567.85}"/>
</p:tagLst>
</file>

<file path=ppt/tags/tag5.xml><?xml version="1.0" encoding="utf-8"?>
<p:tagLst xmlns:p="http://schemas.openxmlformats.org/presentationml/2006/main">
  <p:tag name="KSO_WM_DIAGRAM_VIRTUALLY_FRAME" val="{&quot;height&quot;:364.497716535433,&quot;left&quot;:308.15,&quot;top&quot;:138.4,&quot;width&quot;:567.85}"/>
</p:tagLst>
</file>

<file path=ppt/tags/tag6.xml><?xml version="1.0" encoding="utf-8"?>
<p:tagLst xmlns:p="http://schemas.openxmlformats.org/presentationml/2006/main">
  <p:tag name="KSO_WM_DIAGRAM_VIRTUALLY_FRAME" val="{&quot;height&quot;:364.497716535433,&quot;left&quot;:308.15,&quot;top&quot;:138.4,&quot;width&quot;:567.85}"/>
</p:tagLst>
</file>

<file path=ppt/tags/tag7.xml><?xml version="1.0" encoding="utf-8"?>
<p:tagLst xmlns:p="http://schemas.openxmlformats.org/presentationml/2006/main">
  <p:tag name="KSO_WM_DIAGRAM_VIRTUALLY_FRAME" val="{&quot;height&quot;:364.497716535433,&quot;left&quot;:308.15,&quot;top&quot;:138.4,&quot;width&quot;:567.85}"/>
</p:tagLst>
</file>

<file path=ppt/tags/tag8.xml><?xml version="1.0" encoding="utf-8"?>
<p:tagLst xmlns:p="http://schemas.openxmlformats.org/presentationml/2006/main">
  <p:tag name="KSO_WM_DIAGRAM_VIRTUALLY_FRAME" val="{&quot;height&quot;:364.497716535433,&quot;left&quot;:308.15,&quot;top&quot;:138.4,&quot;width&quot;:567.85}"/>
</p:tagLst>
</file>

<file path=ppt/tags/tag9.xml><?xml version="1.0" encoding="utf-8"?>
<p:tagLst xmlns:p="http://schemas.openxmlformats.org/presentationml/2006/main">
  <p:tag name="KSO_WM_DIAGRAM_VIRTUALLY_FRAME" val="{&quot;height&quot;:364.497716535433,&quot;left&quot;:308.15,&quot;top&quot;:138.4,&quot;width&quot;:567.85}"/>
</p:tagLst>
</file>

<file path=ppt/tags/tag10.xml><?xml version="1.0" encoding="utf-8"?>
<p:tagLst xmlns:p="http://schemas.openxmlformats.org/presentationml/2006/main">
  <p:tag name="KSO_WM_DIAGRAM_VIRTUALLY_FRAME" val="{&quot;height&quot;:364.497716535433,&quot;left&quot;:308.15,&quot;top&quot;:138.4,&quot;width&quot;:567.85}"/>
</p:tagLst>
</file>

<file path=ppt/tags/tag11.xml><?xml version="1.0" encoding="utf-8"?>
<p:tagLst xmlns:p="http://schemas.openxmlformats.org/presentationml/2006/main">
  <p:tag name="KSO_WM_DIAGRAM_VIRTUALLY_FRAME" val="{&quot;height&quot;:364.497716535433,&quot;left&quot;:308.15,&quot;top&quot;:138.4,&quot;width&quot;:567.85}"/>
</p:tagLst>
</file>

<file path=ppt/tags/tag12.xml><?xml version="1.0" encoding="utf-8"?>
<p:tagLst xmlns:p="http://schemas.openxmlformats.org/presentationml/2006/main">
  <p:tag name="KSO_WM_DIAGRAM_VIRTUALLY_FRAME" val="{&quot;height&quot;:364.497716535433,&quot;left&quot;:308.15,&quot;top&quot;:138.4,&quot;width&quot;:567.85}"/>
</p:tagLst>
</file>

<file path=ppt/tags/tag13.xml><?xml version="1.0" encoding="utf-8"?>
<p:tagLst xmlns:p="http://schemas.openxmlformats.org/presentationml/2006/main">
  <p:tag name="KSO_WM_DIAGRAM_VIRTUALLY_FRAME" val="{&quot;height&quot;:364.497716535433,&quot;left&quot;:308.15,&quot;top&quot;:138.4,&quot;width&quot;:567.85}"/>
</p:tagLst>
</file>

<file path=ppt/tags/tag14.xml><?xml version="1.0" encoding="utf-8"?>
<p:tagLst xmlns:p="http://schemas.openxmlformats.org/presentationml/2006/main">
  <p:tag name="TABLE_ENDDRAG_ORIGIN_RECT" val="919*475"/>
  <p:tag name="TABLE_ENDDRAG_RECT" val="21*59*919*475"/>
</p:tagLst>
</file>

<file path=ppt/tags/tag15.xml><?xml version="1.0" encoding="utf-8"?>
<p:tagLst xmlns:p="http://schemas.openxmlformats.org/presentationml/2006/main">
  <p:tag name="KSO_WPP_MARK_KEY" val="4e6872d2-2aed-4ba6-8c8b-99feb0e5c993"/>
  <p:tag name="COMMONDATA" val="eyJoZGlkIjoiMjkzNDQ5ODJlOGQ4YWY3ZWFkMjI5NjA2ZDk2Mzg5M2E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276</Words>
  <Application>WPS 文字</Application>
  <PresentationFormat>宽屏</PresentationFormat>
  <Paragraphs>113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宋体</vt:lpstr>
      <vt:lpstr>Arial Unicode MS</vt:lpstr>
      <vt:lpstr>等线 Light</vt:lpstr>
      <vt:lpstr>汉仪中等线KW</vt:lpstr>
      <vt:lpstr>Calibri Light</vt:lpstr>
      <vt:lpstr>等线</vt:lpstr>
      <vt:lpstr>汉仪书宋二KW</vt:lpstr>
      <vt:lpstr>微软雅黑</vt:lpstr>
      <vt:lpstr>Office 主题​​</vt:lpstr>
      <vt:lpstr>1_Office 主题​​</vt:lpstr>
      <vt:lpstr>2_Office 主题​​</vt:lpstr>
      <vt:lpstr> </vt:lpstr>
      <vt:lpstr>PowerPoint 演示文稿</vt:lpstr>
      <vt:lpstr>一季度总体指标完成情况</vt:lpstr>
      <vt:lpstr>PowerPoint 演示文稿</vt:lpstr>
      <vt:lpstr>一季度工作进展</vt:lpstr>
      <vt:lpstr>PowerPoint 演示文稿</vt:lpstr>
      <vt:lpstr>存在的问题及不足</vt:lpstr>
      <vt:lpstr>PowerPoint 演示文稿</vt:lpstr>
      <vt:lpstr>二季度工作计划</vt:lpstr>
      <vt:lpstr>PowerPoint 演示文稿</vt:lpstr>
      <vt:lpstr>汇报结束，敬请指导！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梁文义</dc:creator>
  <cp:lastModifiedBy>高明毅</cp:lastModifiedBy>
  <cp:revision>376</cp:revision>
  <cp:lastPrinted>2026-04-29T02:32:45Z</cp:lastPrinted>
  <dcterms:created xsi:type="dcterms:W3CDTF">2026-04-29T02:32:45Z</dcterms:created>
  <dcterms:modified xsi:type="dcterms:W3CDTF">2026-04-29T02:32:45Z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79798462F1AC4A44AE3DC5E5DC1A51E8_13</vt:lpwstr>
  </property>
</Properties>
</file>