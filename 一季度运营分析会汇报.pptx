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3657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0" y="5029200"/>
            <a:ext cx="70408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48640"/>
            <a:ext cx="20116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CSCEC · 第八工程局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QUARTERLY OPERATION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一季度运营
分析会汇报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4864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信息化系统建设与运营专题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REPORT　|　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688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聚焦目标 · 复盘成效 · 谋划下阶段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3200400"/>
            <a:ext cx="5029200" cy="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33832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313.8万元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31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回款额（全部为现金）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3832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32249件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31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信创OA累计发起流程数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832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931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系统可用性目标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303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汇报部门：信息化运营管理部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汇报时间：二〇二六年四月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汇 报 人：×××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目录　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目　　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CONTENTS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02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1097280" cy="7772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011680"/>
            <a:ext cx="96012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01168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0848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一季度总体指标完成情况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468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Q1 KPI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71800"/>
            <a:ext cx="1097280" cy="7772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718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2971800"/>
            <a:ext cx="96012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297180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04495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一季度工作进展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429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Q1 Work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97180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1097280" cy="7772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931920"/>
            <a:ext cx="96012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93192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00507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存在的问题及不足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389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Issues &amp;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93192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92040"/>
            <a:ext cx="1097280" cy="7772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9204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4892040"/>
            <a:ext cx="96012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20240" y="489204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496519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二季度工作计划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49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Q2 Action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89204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0"/>
            <a:ext cx="3657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PART 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一季度总体指标完成情况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840480"/>
            <a:ext cx="54864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0952" y="3840480"/>
            <a:ext cx="1828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聚焦合同、收入、利润、回款、负流等核心指标，全面复盘一季度经营运行态势，研判完成情况与质量。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　一季度总体指标完成情况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　一季度核心指标一览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经营指标 · 现金质量 · 风险信号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04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93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合 同 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33.13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Q1 累计签约金额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82880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828800"/>
            <a:ext cx="3657600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993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营业收入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6.25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万元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Q1 累计实现营收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82880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828800"/>
            <a:ext cx="365760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993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利 润 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243.67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万元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经营效益保持稳健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49040"/>
            <a:ext cx="3657600" cy="73152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136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回 款 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251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313.8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526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万元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现金回款 313.8 万元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7490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374904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39136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负流项目占比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251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526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项目纠偏需重点关注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74904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3749040"/>
            <a:ext cx="36576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39136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总负流金额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251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0392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-85.3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526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万元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现金流压力指标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32120"/>
            <a:ext cx="11274552" cy="77724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532120"/>
            <a:ext cx="73152" cy="7772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532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总体研判：回款全部为现金，资金质量较高；合同与营业收入受年初节奏影响规模偏小；负流占比 17%、总负流 -85.3 万元，需重点强化项目纠偏与现金流管控。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　一季度总体指标完成情况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　核心指标质量分析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资金质量 · 经营效益 · 风险信号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05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▎一、回款结构分析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现金回款占比：100%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4937760" cy="320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4937760" cy="3200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313.8 / 313.8 万元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现金部分：313.8 万元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非现金部分：0 万元</a:t>
            </a:r>
          </a:p>
          <a:p>
            <a:pPr algn="l">
              <a:lnSpc>
                <a:spcPct val="135000"/>
              </a:lnSpc>
            </a:pPr>
            <a:r>
              <a:rPr sz="600" b="0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研判：一季度回款全部为现金，资金质量较高；后续应继续坚持现金优先原则，兼顾回款规模与现金占比。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82880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82880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▎二、负流风险研判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项目个数占比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788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总负流金额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2788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C0392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-85.3 万元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3657600"/>
            <a:ext cx="5001768" cy="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19672" y="3749039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应对举措：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项目层面：开展负流项目专项盘点，逐项制定纠偏方案；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过程管控：强化产值、回款、成本三同步管理；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月度复盘：建立月度负流通报与预警机制，压实责任。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0"/>
            <a:ext cx="3657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PART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一季度工作进展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840480"/>
            <a:ext cx="54864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0952" y="3840480"/>
            <a:ext cx="1828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围绕信创OA系统、数智工会系统等核心信息化平台，统筹推进系统建设、流程优化与日常运维，全面复盘工作成效。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两条主线 · 多维突破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07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以业务需求为导向　|　以系统建设为牵引　|　以稳定运维为保障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48640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（一）系统建设情况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信创OA系统建设：核心功能切换上线、26 家二级单位大家签适配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270247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信创OA系统建设：城市运营公司 104 条流程搭建，流程优化迭代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数智工会系统：5 大模块 2 月 5 日全局上线，覆盖 2710 名干部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550407"/>
            <a:ext cx="109728" cy="1097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数智工会系统：完成干部端 9 个功能模块开发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743200"/>
            <a:ext cx="5486400" cy="54864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（二）系统运维情况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329184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73952" y="3630168"/>
            <a:ext cx="109728" cy="109728"/>
          </a:xfrm>
          <a:prstGeom prst="ellipse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组织机构：保障中建科技合并、运营投资类公司整合</a:t>
            </a:r>
          </a:p>
        </p:txBody>
      </p:sp>
      <p:sp>
        <p:nvSpPr>
          <p:cNvPr id="31" name="Oval 30"/>
          <p:cNvSpPr/>
          <p:nvPr/>
        </p:nvSpPr>
        <p:spPr>
          <a:xfrm>
            <a:off x="6473952" y="4270247"/>
            <a:ext cx="109728" cy="109728"/>
          </a:xfrm>
          <a:prstGeom prst="ellipse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160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八局通：处理工单 475 条，应用上线 8 个，缺陷修复 10/13</a:t>
            </a:r>
          </a:p>
        </p:txBody>
      </p:sp>
      <p:sp>
        <p:nvSpPr>
          <p:cNvPr id="33" name="Oval 32"/>
          <p:cNvSpPr/>
          <p:nvPr/>
        </p:nvSpPr>
        <p:spPr>
          <a:xfrm>
            <a:off x="6473952" y="4910328"/>
            <a:ext cx="109728" cy="109728"/>
          </a:xfrm>
          <a:prstGeom prst="ellipse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4800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信创OA上云：汉数科 5 类应用搭建上线，4 月 1 日切换审批流程</a:t>
            </a:r>
          </a:p>
        </p:txBody>
      </p:sp>
      <p:sp>
        <p:nvSpPr>
          <p:cNvPr id="35" name="Oval 34"/>
          <p:cNvSpPr/>
          <p:nvPr/>
        </p:nvSpPr>
        <p:spPr>
          <a:xfrm>
            <a:off x="6473952" y="5550407"/>
            <a:ext cx="109728" cy="109728"/>
          </a:xfrm>
          <a:prstGeom prst="ellipse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54406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八局云盘：版本升级，保障 8 万用户、69T 文件迁移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02-1　信创 OA 系统｜整体推进情况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切换上线 · 运维保障 · 二级承接 · 优化迭代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08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97480" cy="1371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核心功能
切换上线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局总部公文、新闻、公告、流程中心等核心功能全部切换上线，二级单位除基础功能外亦实现全面上线运行。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82880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828800"/>
            <a:ext cx="2697480" cy="1371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9202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重点流程
专项保障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8328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针对发起量较大的局总部公文、新闻、财务等关键流程开展专项保障，并对二级单位流程搭建提供答疑支持。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82880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697480" cy="1371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9202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二级单位
搭建承接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8328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城市运营公司完成 103 条流程搭建；南方公司完成 130+ 条需求梳理；浙江公司流程需求处于对接报价阶段。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82880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1828800"/>
            <a:ext cx="2697480" cy="1371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92024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局总部流程
优化迭代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38328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局总部流程持续优化迭代，重点针对用印等高频流程进行优化完善（由致远提供相关支持）。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02-2　信创 OA 系统｜重点工作成效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功能适配 · 流程建设 · 数据对接 · 运营管控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09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914400" cy="10515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914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1828800"/>
            <a:ext cx="3291840" cy="105156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182880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聚焦功能适配与开发
夯实系统应用基础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828800"/>
            <a:ext cx="7068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828800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 26 家二级单位『大家签』适配开发；外部主数据同步功能已上线，累计同步 28 家外部单位主数据、2402 条人员主数据。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53512"/>
            <a:ext cx="914400" cy="105156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914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53512"/>
            <a:ext cx="3291840" cy="105156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953512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强化流程建设与优化
提升办公协同效能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953512"/>
            <a:ext cx="7068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53512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完成城市运营公司及下级单位 104 条流程上线；优化局总部行政用印、投资运营事业部、工程研究院相关流程；优化公文套红模板。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78224"/>
            <a:ext cx="914400" cy="10515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78224"/>
            <a:ext cx="914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078224"/>
            <a:ext cx="3291840" cy="105156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078224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推进系统迭代与数据对接
强化数据赋能能力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078224"/>
            <a:ext cx="7068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078224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完成文件中心三级单位页面开发上线，规范文件流转；完成集团应用使用情况看板指标对接，实现运营数据可视化。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02936"/>
            <a:ext cx="914400" cy="105156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02936"/>
            <a:ext cx="914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202936"/>
            <a:ext cx="3291840" cy="105156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202936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抓实系统运营管控
保障系统平稳运行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5202936"/>
            <a:ext cx="7068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5202936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系统累计发起流程 32249 件、办结 22249 件、完成 10257 件，未出现重大系统故障及业务卡顿问题，整体运行平稳。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02-3　信创 OA 系统｜运营数据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量化呈现 · 数据说话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10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73152" cy="18288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发起流程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32,249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828800"/>
            <a:ext cx="73152" cy="18288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办结流程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22,249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4" y="1828800"/>
            <a:ext cx="73152" cy="1828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10,257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▎新老 OA 系统流程审批数据对比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0" y="4572000"/>
            <a:ext cx="292608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5720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系统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572000"/>
            <a:ext cx="228600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流程审批量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572000"/>
            <a:ext cx="2286000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审批人次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4572000"/>
            <a:ext cx="3776472" cy="5486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457200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说明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2064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120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新信创 OA 系统（全局）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12064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51206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3.557 万条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512064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51206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35.289 万人次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5120640"/>
            <a:ext cx="37764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512064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二级单位逐步切换，4 月 1 日完成审批切换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69280"/>
            <a:ext cx="29260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6692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原 OA 系统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5669280"/>
            <a:ext cx="228600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56692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10.18 万条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5669280"/>
            <a:ext cx="228600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56692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54.79 万人次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5669280"/>
            <a:ext cx="3776472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566928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并行运行期保障业务连续性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02-4　数智工会系统｜干部端全局推广上线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 月 5 日 · 全局上线 · 全面覆盖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11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■  完成荣誉奖项、劳动竞赛、技能竞赛、服务阵地、困难职工 5 大模块开发测试，2026 年 2 月 5 日全局上线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2,223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工会组织（个）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74320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74320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2,710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覆盖工会干部（名）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74320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74320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1,321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荣誉奖项 · 集体（条）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955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荣誉奖项 · 个人（条）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20624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420624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2,212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983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劳模先进（条）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20624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206240"/>
            <a:ext cx="73152" cy="12801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983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劳动竞赛局级立项（条）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创新工作室录入 364 个，服务阵地覆盖 511 个，应用基础数据初具规模。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02-5　数智工会系统｜干部端运维与开发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9 大模块 · 完善服务体系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12 /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围绕基层工会干部实际工作需求，完成 9 个核心模块的开发工作，进一步丰富数智工会系统功能体系。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筑缘相亲交友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服务关怀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560320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283464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834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福利清单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权益保障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560320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283464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834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幸福清单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权益保障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76472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4050792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9593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积分管理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运营激励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776472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34840" y="4050792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0507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9593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会员码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身份服务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76472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0" y="4050792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0507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9593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慰问申请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服务关怀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92624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" y="5266944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266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175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文体协会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5869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文体活动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4992624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34840" y="5266944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5266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175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活动中心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5869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文体活动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992624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29600" y="5266944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5266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175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服务阵地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5869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# 阵地建设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02-6　系统运维｜组织机构 · 八局通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基础维护 · 工单闭环 · 缺陷管理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13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▎组织机构维护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在册机构单位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913　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749039"/>
            <a:ext cx="5120640" cy="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384048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一季度重点保障：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完成三级单位组织调整事项的平稳落地；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保障中建科技公司合并；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保障运营投资类公司整合；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· 确保组织机构数据与实际管理架构同步。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82880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1828800"/>
            <a:ext cx="5486400" cy="4572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828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▎八局通运维支持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2468880"/>
            <a:ext cx="256032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606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工单处理（条）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全部办结闭环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8552" y="2468880"/>
            <a:ext cx="256032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2606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应用上线（个）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助力业务上云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792" y="4297680"/>
            <a:ext cx="256032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4434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系统故障（起）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4709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5486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运行稳定可控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8552" y="4297680"/>
            <a:ext cx="256032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4434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缺陷修复进度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709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10/13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5486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剩 3 个待新版本验证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　一季度工作进展 / 系统运维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02-7　系统运维｜信创 OA 上云 · 八局云盘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云端切换 · 平稳运行 · 升级保障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14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▎信创 OA 上云汉数科：会议预约 / 发文 / 新闻 / 通知公告 / 审批流程  ——  全部完成搭建上线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966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会议申请（次）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468880"/>
            <a:ext cx="0" cy="109728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4640" y="2423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1089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文件发布（条）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37760" y="2468880"/>
            <a:ext cx="0" cy="109728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2423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1089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通知公告（条）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468880"/>
            <a:ext cx="0" cy="109728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59" y="2423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1089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新闻发布（条）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79" y="2468880"/>
            <a:ext cx="0" cy="1097280"/>
          </a:xfrm>
          <a:prstGeom prst="line">
            <a:avLst/>
          </a:prstGeom>
          <a:ln w="12700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2423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4 月 1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1089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审批流程切换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■ 全局新 OA 累计完成审批流程 3.557 万条 / 35.289 万人次；老 OA 完成 10.18 万条 / 54.79 万人次。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1127455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▎八局云盘版本升级：完成版本升级与平滑迁移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463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8 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用户规模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8463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69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迁移文件量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463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分享统计增强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8463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669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安全防护加固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0"/>
            <a:ext cx="3657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PART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存在的问题及不足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840480"/>
            <a:ext cx="54864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0952" y="3840480"/>
            <a:ext cx="1828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对照高质量发展要求，正视短板与不足，聚焦运维知识沉淀、推进进度、数据应用三方面深刻剖析。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　存在的问题及不足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　存在的问题及不足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正视短板 · 聚焦改进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16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200400" cy="1417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9E9F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3172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知识库沉淀不足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28800"/>
            <a:ext cx="807415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92024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现有运维知识体系尚不健全，相似问题缺乏标准化处置预案，运维人员遇到同类问题难以快速分析定位，影响响应效率与服务质量。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69748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 改进方向：健全知识管理与经验复用机制，建立标准化运维知识库与典型问题处置手册。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64992"/>
            <a:ext cx="3200400" cy="1417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5643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4787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9E9F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67912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二级单位推进进度不均衡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364992"/>
            <a:ext cx="807415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456432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各二级单位流程搭建与上线进度存在差异，部分单位需求梳理及报价对接仍需提速，整体推进节奏需进一步统筹协调。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2336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 改进方向：建立二级单位推进周报机制，分层分类落实进度管控与协调督办。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01184"/>
            <a:ext cx="3200400" cy="1417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9262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08406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9E9F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0410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系统数据应用深度有待提升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901184"/>
            <a:ext cx="807415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992624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 OA、数智工会等平台已积累一定规模运营数据，但在数据分析、决策支持等方面挖掘不充分，数据价值释放有待进一步加强。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76986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▎ 改进方向：完善运营看板指标体系，推动数据驱动管理与智能化决策应用。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0"/>
            <a:ext cx="36576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PART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二季度工作计划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840480"/>
            <a:ext cx="548640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0952" y="3840480"/>
            <a:ext cx="1828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坚持目标导向、问题导向、结果导向，聚焦四项重点任务，确保高质量完成全年目标。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64592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中建八局 · 一季度运营分析会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　二季度工作计划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　二季度重点工作计划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188720"/>
            <a:ext cx="1371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时间节点 · 责任明确 · 量化目标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510528"/>
            <a:ext cx="11274552" cy="0"/>
          </a:xfrm>
          <a:prstGeom prst="line">
            <a:avLst/>
          </a:prstGeom>
          <a:ln w="9525">
            <a:solidFill>
              <a:srgbClr val="D7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季度运营分析专题汇报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6539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95A6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P 18 / 19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2103120"/>
            <a:ext cx="1069848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194560" y="2011680"/>
            <a:ext cx="182880" cy="1828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1600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5 月底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2011680"/>
            <a:ext cx="182880" cy="1828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600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6 月底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2011680"/>
            <a:ext cx="182880" cy="1828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00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6 月 30 日</a:t>
            </a:r>
          </a:p>
        </p:txBody>
      </p:sp>
      <p:sp>
        <p:nvSpPr>
          <p:cNvPr id="20" name="Oval 19"/>
          <p:cNvSpPr/>
          <p:nvPr/>
        </p:nvSpPr>
        <p:spPr>
          <a:xfrm>
            <a:off x="11247120" y="2011680"/>
            <a:ext cx="182880" cy="1828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1600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持续推进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4320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269748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611880"/>
            <a:ext cx="1828800" cy="365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70C0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⏱  6 月 30 日前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信创 OA 二级落地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617719"/>
            <a:ext cx="274320" cy="365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完成信创 OA 系统二级单位剩余功能及流程的上线工作，实现二级单位全面应用、全员覆盖。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74320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2743200"/>
            <a:ext cx="2697480" cy="9144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611880"/>
            <a:ext cx="1828800" cy="365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⏱  6 月底前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1148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移动端功能开发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617719"/>
            <a:ext cx="274320" cy="36576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47548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完成移动端剩余 7 个功能模块的开发与上线，持续完善移动办公体系，提升用户体验。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74320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2743200"/>
            <a:ext cx="269748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11880"/>
            <a:ext cx="1828800" cy="365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⏱  5 月底前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1148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机构系统功能优化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617719"/>
            <a:ext cx="27432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7548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完成机构系统审批预选等相关功能的优化工作，进一步提升系统易用性与运行效率。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274320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743200"/>
            <a:ext cx="2697480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3611880"/>
            <a:ext cx="1828800" cy="365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E8B57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⏱  持续推进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1148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2B3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运维保障持续提升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9720" y="4617719"/>
            <a:ext cx="274320" cy="3657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47548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确保各信息系统可用性达 99.9% 以上，SLA 达标率持续保持在 95% 以上。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263640"/>
            <a:ext cx="11274552" cy="228600"/>
          </a:xfrm>
          <a:prstGeom prst="rect">
            <a:avLst/>
          </a:prstGeom>
          <a:solidFill>
            <a:srgbClr val="D9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04F8B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强化目标引领　|　压实工作责任　|　补齐短板弱项　|　高质量完成全年各项目标任务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THANKS  FOR  YOUR 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感 谢 聆 听
敬 请 批 评 指 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3288" y="5303520"/>
            <a:ext cx="73152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B7D7F2"/>
                </a:solidFill>
                <a:latin typeface="微软雅黑"/>
                <a:eastAsia typeface="微软雅黑"/>
                <a:cs typeface="微软雅黑"/>
                <a:ascii typeface="微软雅黑"/>
              </a:rPr>
              <a:t>信息化运营管理部　|　二〇二六年四月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