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3"/>
    <p:sldMasterId id="2147483690" r:id="rId4"/>
  </p:sldMasterIdLst>
  <p:notesMasterIdLst>
    <p:notesMasterId r:id="rId9"/>
  </p:notesMasterIdLst>
  <p:handoutMasterIdLst>
    <p:handoutMasterId r:id="rId17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0"/>
    <p:sldId id="263" r:id="rId8"/>
    <p:sldId id="264" r:id="rId7"/>
    <p:sldId id="265" r:id="rId6"/>
    <p:sldId id="266" r:id="rId5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</p:sldIdLst>
  <p:sldSz cx="12192000" cy="6858000"/>
  <p:notesSz cx="6807200" cy="9939020"/>
  <p:custDataLst>
    <p:tags r:id="rId2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49" userDrawn="1">
          <p15:clr>
            <a:srgbClr val="A4A3A4"/>
          </p15:clr>
        </p15:guide>
        <p15:guide id="2" pos="3859" userDrawn="1">
          <p15:clr>
            <a:srgbClr val="A4A3A4"/>
          </p15:clr>
        </p15:guide>
        <p15:guide id="3" orient="horz" pos="40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BF5"/>
    <a:srgbClr val="4472C4"/>
    <a:srgbClr val="CFD5EA"/>
    <a:srgbClr val="E9EDF0"/>
    <a:srgbClr val="F9FBFA"/>
    <a:srgbClr val="F4F9F5"/>
    <a:srgbClr val="F7F9F6"/>
    <a:srgbClr val="F9FBF8"/>
    <a:srgbClr val="DEEBF7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238" autoAdjust="0"/>
  </p:normalViewPr>
  <p:slideViewPr>
    <p:cSldViewPr snapToGrid="0" showGuides="1">
      <p:cViewPr varScale="1">
        <p:scale>
          <a:sx n="98" d="100"/>
          <a:sy n="98" d="100"/>
        </p:scale>
        <p:origin x="72" y="216"/>
      </p:cViewPr>
      <p:guideLst>
        <p:guide orient="horz" pos="2349"/>
        <p:guide pos="3859"/>
        <p:guide orient="horz" pos="40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1.xml"/><Relationship Id="rId6" Type="http://schemas.openxmlformats.org/officeDocument/2006/relationships/slide" Target="slides/slide10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Relationship Id="rId21" Type="http://schemas.openxmlformats.org/officeDocument/2006/relationships/tags" Target="tags/tag15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19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19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40344"/>
            <a:ext cx="2949787" cy="4986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9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55838" y="9440344"/>
            <a:ext cx="2949787" cy="4986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9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9786" cy="498693"/>
          </a:xfrm>
          <a:prstGeom prst="rect">
            <a:avLst/>
          </a:prstGeom>
        </p:spPr>
        <p:txBody>
          <a:bodyPr vert="horz" lIns="91550" tIns="45775" rIns="91550" bIns="45775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55839" y="0"/>
            <a:ext cx="2949786" cy="498693"/>
          </a:xfrm>
          <a:prstGeom prst="rect">
            <a:avLst/>
          </a:prstGeom>
        </p:spPr>
        <p:txBody>
          <a:bodyPr vert="horz" lIns="91550" tIns="45775" rIns="91550" bIns="45775" rtlCol="0"/>
          <a:lstStyle>
            <a:lvl1pPr algn="r">
              <a:defRPr sz="1200"/>
            </a:lvl1pPr>
          </a:lstStyle>
          <a:p>
            <a:fld id="{494917AA-CAD3-4A2B-989A-C9C413319B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1243013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50" tIns="45775" rIns="91550" bIns="45775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0721" y="4783307"/>
            <a:ext cx="5445760" cy="3913615"/>
          </a:xfrm>
          <a:prstGeom prst="rect">
            <a:avLst/>
          </a:prstGeom>
        </p:spPr>
        <p:txBody>
          <a:bodyPr vert="horz" lIns="91550" tIns="45775" rIns="91550" bIns="45775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1" y="9440646"/>
            <a:ext cx="2949786" cy="498692"/>
          </a:xfrm>
          <a:prstGeom prst="rect">
            <a:avLst/>
          </a:prstGeom>
        </p:spPr>
        <p:txBody>
          <a:bodyPr vert="horz" lIns="91550" tIns="45775" rIns="91550" bIns="45775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55839" y="9440646"/>
            <a:ext cx="2949786" cy="498692"/>
          </a:xfrm>
          <a:prstGeom prst="rect">
            <a:avLst/>
          </a:prstGeom>
        </p:spPr>
        <p:txBody>
          <a:bodyPr vert="horz" lIns="91550" tIns="45775" rIns="91550" bIns="45775" rtlCol="0" anchor="b"/>
          <a:lstStyle>
            <a:lvl1pPr algn="r">
              <a:defRPr sz="1200"/>
            </a:lvl1pPr>
          </a:lstStyle>
          <a:p>
            <a:fld id="{78E89F95-D218-413D-8B19-A14D9093D50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image3.wdp"/><Relationship Id="rId4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microsoft.com/office/2007/relationships/hdphoto" Target="../media/image3.wdp"/><Relationship Id="rId4" Type="http://schemas.openxmlformats.org/officeDocument/2006/relationships/image" Target="../media/image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microsoft.com/office/2007/relationships/hdphoto" Target="../media/image3.wdp"/><Relationship Id="rId4" Type="http://schemas.openxmlformats.org/officeDocument/2006/relationships/image" Target="../media/image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2"/>
            <a:ext cx="12192000" cy="14949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775201" y="1979567"/>
            <a:ext cx="7416800" cy="1347745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4775201" y="3048019"/>
            <a:ext cx="7416800" cy="763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10" name="直接连接符 9"/>
          <p:cNvCxnSpPr/>
          <p:nvPr userDrawn="1"/>
        </p:nvCxnSpPr>
        <p:spPr>
          <a:xfrm>
            <a:off x="0" y="3041055"/>
            <a:ext cx="12221029" cy="0"/>
          </a:xfrm>
          <a:prstGeom prst="line">
            <a:avLst/>
          </a:prstGeom>
          <a:ln>
            <a:solidFill>
              <a:srgbClr val="0080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586133" y="6212114"/>
            <a:ext cx="4605867" cy="64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矩形 11"/>
          <p:cNvSpPr/>
          <p:nvPr userDrawn="1"/>
        </p:nvSpPr>
        <p:spPr>
          <a:xfrm>
            <a:off x="0" y="1"/>
            <a:ext cx="12192000" cy="10113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0" name="标题 1"/>
          <p:cNvSpPr>
            <a:spLocks noGrp="1"/>
          </p:cNvSpPr>
          <p:nvPr>
            <p:ph type="ctrTitle"/>
          </p:nvPr>
        </p:nvSpPr>
        <p:spPr>
          <a:xfrm>
            <a:off x="535709" y="1281461"/>
            <a:ext cx="10972800" cy="1641451"/>
          </a:xfrm>
        </p:spPr>
        <p:txBody>
          <a:bodyPr anchor="b">
            <a:normAutofit/>
          </a:bodyPr>
          <a:lstStyle>
            <a:lvl1pPr algn="ctr">
              <a:defRPr sz="4800" b="1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1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35709" y="3074711"/>
            <a:ext cx="10972800" cy="816691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rcRect l="10282" r="11992" b="27492"/>
          <a:stretch>
            <a:fillRect/>
          </a:stretch>
        </p:blipFill>
        <p:spPr>
          <a:xfrm>
            <a:off x="0" y="4224869"/>
            <a:ext cx="12192000" cy="263313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print"/>
          <a:srcRect l="2512" b="27492"/>
          <a:stretch>
            <a:fillRect/>
          </a:stretch>
        </p:blipFill>
        <p:spPr>
          <a:xfrm>
            <a:off x="1" y="5548626"/>
            <a:ext cx="6809753" cy="1172576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6713984"/>
            <a:ext cx="12192000" cy="144016"/>
          </a:xfrm>
          <a:prstGeom prst="rect">
            <a:avLst/>
          </a:prstGeom>
          <a:solidFill>
            <a:srgbClr val="0080C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2"/>
            <a:ext cx="3288149" cy="685799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25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568157" y="2059182"/>
            <a:ext cx="7887243" cy="2333452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2800" b="1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添加目录</a:t>
            </a:r>
            <a:endParaRPr lang="zh-CN" altLang="en-US" dirty="0"/>
          </a:p>
        </p:txBody>
      </p:sp>
      <p:sp>
        <p:nvSpPr>
          <p:cNvPr id="26" name="文本框 25"/>
          <p:cNvSpPr txBox="1"/>
          <p:nvPr userDrawn="1"/>
        </p:nvSpPr>
        <p:spPr>
          <a:xfrm>
            <a:off x="1377255" y="838201"/>
            <a:ext cx="25817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 录</a:t>
            </a:r>
            <a:endParaRPr lang="zh-CN" altLang="en-US" sz="3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直接连接符 26"/>
          <p:cNvCxnSpPr/>
          <p:nvPr userDrawn="1"/>
        </p:nvCxnSpPr>
        <p:spPr>
          <a:xfrm>
            <a:off x="1136438" y="1484531"/>
            <a:ext cx="214258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 userDrawn="1"/>
        </p:nvCxnSpPr>
        <p:spPr>
          <a:xfrm>
            <a:off x="3275130" y="1484531"/>
            <a:ext cx="8916871" cy="0"/>
          </a:xfrm>
          <a:prstGeom prst="line">
            <a:avLst/>
          </a:prstGeom>
          <a:ln>
            <a:solidFill>
              <a:srgbClr val="0080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print"/>
          <a:srcRect l="2963" b="14655"/>
          <a:stretch>
            <a:fillRect/>
          </a:stretch>
        </p:blipFill>
        <p:spPr>
          <a:xfrm>
            <a:off x="2" y="4088778"/>
            <a:ext cx="3288149" cy="276922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/>
          <p:cNvSpPr/>
          <p:nvPr userDrawn="1"/>
        </p:nvSpPr>
        <p:spPr>
          <a:xfrm>
            <a:off x="226782" y="241548"/>
            <a:ext cx="38157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第一部分   </a:t>
            </a:r>
            <a:r>
              <a: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一季度总体指标完成情况</a:t>
            </a: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29013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第二部分   </a:t>
            </a:r>
            <a:r>
              <a:rPr lang="zh-CN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一季度工作进展</a:t>
            </a:r>
            <a:endParaRPr 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3129915" cy="7988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第三部分   存在的问题及不足</a:t>
            </a: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  <a:p>
            <a:pPr>
              <a:spcAft>
                <a:spcPts val="1200"/>
              </a:spcAft>
            </a:pP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29013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第四部分   二季度工作计划</a:t>
            </a: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45015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第五部分   需要总部协助解决的问题及建议</a:t>
            </a: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45015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第五部分   </a:t>
            </a:r>
            <a:r>
              <a:rPr lang="zh-CN" altLang="zh-CN" sz="1800" b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需要总部协助解决的问题及建议</a:t>
            </a:r>
            <a:endParaRPr lang="zh-CN" altLang="en-US" sz="1800" b="1" kern="12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 userDrawn="1"/>
        </p:nvSpPr>
        <p:spPr>
          <a:xfrm>
            <a:off x="0" y="1"/>
            <a:ext cx="12192000" cy="10113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-43176" y="1620983"/>
            <a:ext cx="7126480" cy="1589924"/>
          </a:xfrm>
          <a:prstGeom prst="rect">
            <a:avLst/>
          </a:prstGeom>
        </p:spPr>
      </p:pic>
      <p:sp>
        <p:nvSpPr>
          <p:cNvPr id="8" name="矩形 7"/>
          <p:cNvSpPr/>
          <p:nvPr userDrawn="1"/>
        </p:nvSpPr>
        <p:spPr>
          <a:xfrm>
            <a:off x="0" y="2784764"/>
            <a:ext cx="12192000" cy="4091943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 rotWithShape="1">
          <a:blip r:embed="rId3" cstate="print"/>
          <a:srcRect b="30010"/>
          <a:stretch>
            <a:fillRect/>
          </a:stretch>
        </p:blipFill>
        <p:spPr>
          <a:xfrm>
            <a:off x="7645096" y="2373314"/>
            <a:ext cx="4089705" cy="520993"/>
          </a:xfrm>
          <a:prstGeom prst="rect">
            <a:avLst/>
          </a:prstGeom>
        </p:spPr>
      </p:pic>
      <p:sp>
        <p:nvSpPr>
          <p:cNvPr id="10" name="标题 1"/>
          <p:cNvSpPr>
            <a:spLocks noGrp="1"/>
          </p:cNvSpPr>
          <p:nvPr>
            <p:ph type="ctrTitle" hasCustomPrompt="1"/>
          </p:nvPr>
        </p:nvSpPr>
        <p:spPr>
          <a:xfrm>
            <a:off x="535709" y="2886566"/>
            <a:ext cx="10972800" cy="1641451"/>
          </a:xfrm>
        </p:spPr>
        <p:txBody>
          <a:bodyPr anchor="b">
            <a:normAutofit/>
          </a:bodyPr>
          <a:lstStyle>
            <a:lvl1pPr algn="ctr">
              <a:defRPr sz="4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结束语</a:t>
            </a:r>
            <a:endParaRPr lang="zh-CN" altLang="en-US" dirty="0"/>
          </a:p>
        </p:txBody>
      </p:sp>
      <p:sp>
        <p:nvSpPr>
          <p:cNvPr id="11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35709" y="4551949"/>
            <a:ext cx="10972800" cy="816691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单击以编辑母版副标题样式</a:t>
            </a:r>
            <a:endParaRPr lang="zh-CN" altLang="en-US" dirty="0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0837428" y="6531307"/>
            <a:ext cx="76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i="1" dirty="0">
                <a:solidFill>
                  <a:srgbClr val="00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Lwy</a:t>
            </a:r>
            <a:r>
              <a:rPr lang="zh-CN" altLang="en-US" sz="1200" i="1" dirty="0">
                <a:solidFill>
                  <a:srgbClr val="00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制作</a:t>
            </a:r>
            <a:endParaRPr lang="zh-CN" altLang="en-US" sz="1200" i="1" dirty="0">
              <a:solidFill>
                <a:srgbClr val="005A9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2"/>
            <a:ext cx="12192000" cy="14949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775201" y="1979567"/>
            <a:ext cx="7416800" cy="1347745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4775201" y="3048019"/>
            <a:ext cx="7416800" cy="763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10" name="直接连接符 9"/>
          <p:cNvCxnSpPr/>
          <p:nvPr userDrawn="1"/>
        </p:nvCxnSpPr>
        <p:spPr>
          <a:xfrm>
            <a:off x="0" y="3041055"/>
            <a:ext cx="12221029" cy="0"/>
          </a:xfrm>
          <a:prstGeom prst="line">
            <a:avLst/>
          </a:prstGeom>
          <a:ln>
            <a:solidFill>
              <a:srgbClr val="0080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586133" y="6212114"/>
            <a:ext cx="4605867" cy="64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矩形 11"/>
          <p:cNvSpPr/>
          <p:nvPr userDrawn="1"/>
        </p:nvSpPr>
        <p:spPr>
          <a:xfrm>
            <a:off x="0" y="1"/>
            <a:ext cx="12192000" cy="10113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0" name="标题 1"/>
          <p:cNvSpPr>
            <a:spLocks noGrp="1"/>
          </p:cNvSpPr>
          <p:nvPr>
            <p:ph type="ctrTitle"/>
          </p:nvPr>
        </p:nvSpPr>
        <p:spPr>
          <a:xfrm>
            <a:off x="535709" y="1281461"/>
            <a:ext cx="10972800" cy="1641451"/>
          </a:xfrm>
        </p:spPr>
        <p:txBody>
          <a:bodyPr anchor="b">
            <a:normAutofit/>
          </a:bodyPr>
          <a:lstStyle>
            <a:lvl1pPr algn="ctr">
              <a:defRPr sz="4800" b="1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1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35709" y="3074711"/>
            <a:ext cx="10972800" cy="816691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rcRect l="10282" r="11992" b="27492"/>
          <a:stretch>
            <a:fillRect/>
          </a:stretch>
        </p:blipFill>
        <p:spPr>
          <a:xfrm>
            <a:off x="0" y="4224869"/>
            <a:ext cx="12192000" cy="263313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print"/>
          <a:srcRect l="2512" b="27492"/>
          <a:stretch>
            <a:fillRect/>
          </a:stretch>
        </p:blipFill>
        <p:spPr>
          <a:xfrm>
            <a:off x="1" y="5548626"/>
            <a:ext cx="6809753" cy="1172576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6713984"/>
            <a:ext cx="12192000" cy="144016"/>
          </a:xfrm>
          <a:prstGeom prst="rect">
            <a:avLst/>
          </a:prstGeom>
          <a:solidFill>
            <a:srgbClr val="0080C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2"/>
            <a:ext cx="3288149" cy="685799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25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568157" y="2059182"/>
            <a:ext cx="7887243" cy="2333452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2800" b="1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添加目录</a:t>
            </a:r>
            <a:endParaRPr lang="zh-CN" altLang="en-US" dirty="0"/>
          </a:p>
        </p:txBody>
      </p:sp>
      <p:sp>
        <p:nvSpPr>
          <p:cNvPr id="26" name="文本框 25"/>
          <p:cNvSpPr txBox="1"/>
          <p:nvPr userDrawn="1"/>
        </p:nvSpPr>
        <p:spPr>
          <a:xfrm>
            <a:off x="1377255" y="838201"/>
            <a:ext cx="25817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 录</a:t>
            </a:r>
            <a:endParaRPr lang="zh-CN" altLang="en-US" sz="3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直接连接符 26"/>
          <p:cNvCxnSpPr/>
          <p:nvPr userDrawn="1"/>
        </p:nvCxnSpPr>
        <p:spPr>
          <a:xfrm>
            <a:off x="1136438" y="1484531"/>
            <a:ext cx="214258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 userDrawn="1"/>
        </p:nvCxnSpPr>
        <p:spPr>
          <a:xfrm>
            <a:off x="3275130" y="1484531"/>
            <a:ext cx="8916871" cy="0"/>
          </a:xfrm>
          <a:prstGeom prst="line">
            <a:avLst/>
          </a:prstGeom>
          <a:ln>
            <a:solidFill>
              <a:srgbClr val="0080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print"/>
          <a:srcRect l="2963" b="14655"/>
          <a:stretch>
            <a:fillRect/>
          </a:stretch>
        </p:blipFill>
        <p:spPr>
          <a:xfrm>
            <a:off x="2" y="4088778"/>
            <a:ext cx="3288149" cy="276922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/>
          <p:cNvSpPr/>
          <p:nvPr userDrawn="1"/>
        </p:nvSpPr>
        <p:spPr>
          <a:xfrm>
            <a:off x="226782" y="241548"/>
            <a:ext cx="42729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第一部分   </a:t>
            </a:r>
            <a:r>
              <a:rPr 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一季度主要预算指标完成情况</a:t>
            </a:r>
            <a:endParaRPr 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29013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第二部分   </a:t>
            </a:r>
            <a:r>
              <a:rPr lang="zh-CN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一季度工作进展</a:t>
            </a:r>
            <a:endParaRPr lang="zh-CN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31299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第三部分   存在的问题及风险</a:t>
            </a: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29013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第四部分   二季度工作计划</a:t>
            </a: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45015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第五部分   需要总部协助解决的问题及建议</a:t>
            </a: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45015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第五部分   </a:t>
            </a:r>
            <a:r>
              <a:rPr lang="zh-CN" altLang="zh-CN" sz="1800" b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需要总部协助解决的问题及建议</a:t>
            </a:r>
            <a:endParaRPr lang="zh-CN" altLang="en-US" sz="1800" b="1" kern="12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 userDrawn="1"/>
        </p:nvSpPr>
        <p:spPr>
          <a:xfrm>
            <a:off x="0" y="1"/>
            <a:ext cx="12192000" cy="10113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-43176" y="1620983"/>
            <a:ext cx="7126480" cy="1589924"/>
          </a:xfrm>
          <a:prstGeom prst="rect">
            <a:avLst/>
          </a:prstGeom>
        </p:spPr>
      </p:pic>
      <p:sp>
        <p:nvSpPr>
          <p:cNvPr id="8" name="矩形 7"/>
          <p:cNvSpPr/>
          <p:nvPr userDrawn="1"/>
        </p:nvSpPr>
        <p:spPr>
          <a:xfrm>
            <a:off x="0" y="2784764"/>
            <a:ext cx="12192000" cy="4091943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 rotWithShape="1">
          <a:blip r:embed="rId3" cstate="print"/>
          <a:srcRect b="30010"/>
          <a:stretch>
            <a:fillRect/>
          </a:stretch>
        </p:blipFill>
        <p:spPr>
          <a:xfrm>
            <a:off x="7645096" y="2373314"/>
            <a:ext cx="4089705" cy="520993"/>
          </a:xfrm>
          <a:prstGeom prst="rect">
            <a:avLst/>
          </a:prstGeom>
        </p:spPr>
      </p:pic>
      <p:sp>
        <p:nvSpPr>
          <p:cNvPr id="10" name="标题 1"/>
          <p:cNvSpPr>
            <a:spLocks noGrp="1"/>
          </p:cNvSpPr>
          <p:nvPr>
            <p:ph type="ctrTitle" hasCustomPrompt="1"/>
          </p:nvPr>
        </p:nvSpPr>
        <p:spPr>
          <a:xfrm>
            <a:off x="535709" y="2886566"/>
            <a:ext cx="10972800" cy="1641451"/>
          </a:xfrm>
        </p:spPr>
        <p:txBody>
          <a:bodyPr anchor="b">
            <a:normAutofit/>
          </a:bodyPr>
          <a:lstStyle>
            <a:lvl1pPr algn="ctr">
              <a:defRPr sz="4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结束语</a:t>
            </a:r>
            <a:endParaRPr lang="zh-CN" altLang="en-US" dirty="0"/>
          </a:p>
        </p:txBody>
      </p:sp>
      <p:sp>
        <p:nvSpPr>
          <p:cNvPr id="11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35709" y="4551949"/>
            <a:ext cx="10972800" cy="816691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单击以编辑母版副标题样式</a:t>
            </a:r>
            <a:endParaRPr lang="zh-CN" altLang="en-US" dirty="0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0837428" y="6531307"/>
            <a:ext cx="76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i="1" dirty="0">
                <a:solidFill>
                  <a:srgbClr val="00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Lwy</a:t>
            </a:r>
            <a:r>
              <a:rPr lang="zh-CN" altLang="en-US" sz="1200" i="1" dirty="0">
                <a:solidFill>
                  <a:srgbClr val="00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制作</a:t>
            </a:r>
            <a:endParaRPr lang="zh-CN" altLang="en-US" sz="1200" i="1" dirty="0">
              <a:solidFill>
                <a:srgbClr val="005A9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 descr="微信图片_20260417170759_7057_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338060" y="5472430"/>
            <a:ext cx="3686175" cy="5353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2"/>
            <a:ext cx="12192000" cy="14949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775201" y="1979567"/>
            <a:ext cx="7416800" cy="1347745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4775201" y="3048019"/>
            <a:ext cx="7416800" cy="763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10" name="直接连接符 9"/>
          <p:cNvCxnSpPr/>
          <p:nvPr userDrawn="1"/>
        </p:nvCxnSpPr>
        <p:spPr>
          <a:xfrm>
            <a:off x="0" y="3041055"/>
            <a:ext cx="12221029" cy="0"/>
          </a:xfrm>
          <a:prstGeom prst="line">
            <a:avLst/>
          </a:prstGeom>
          <a:ln>
            <a:solidFill>
              <a:srgbClr val="0080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586133" y="6212114"/>
            <a:ext cx="4605867" cy="64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矩形 11"/>
          <p:cNvSpPr/>
          <p:nvPr userDrawn="1"/>
        </p:nvSpPr>
        <p:spPr>
          <a:xfrm>
            <a:off x="0" y="1"/>
            <a:ext cx="12192000" cy="10113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0" name="标题 1"/>
          <p:cNvSpPr>
            <a:spLocks noGrp="1"/>
          </p:cNvSpPr>
          <p:nvPr>
            <p:ph type="ctrTitle"/>
          </p:nvPr>
        </p:nvSpPr>
        <p:spPr>
          <a:xfrm>
            <a:off x="535709" y="1281461"/>
            <a:ext cx="10972800" cy="1641451"/>
          </a:xfrm>
        </p:spPr>
        <p:txBody>
          <a:bodyPr anchor="b">
            <a:normAutofit/>
          </a:bodyPr>
          <a:lstStyle>
            <a:lvl1pPr algn="ctr">
              <a:defRPr sz="4800" b="1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1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35709" y="3074711"/>
            <a:ext cx="10972800" cy="816691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rcRect l="10282" r="11992" b="27492"/>
          <a:stretch>
            <a:fillRect/>
          </a:stretch>
        </p:blipFill>
        <p:spPr>
          <a:xfrm>
            <a:off x="0" y="4224869"/>
            <a:ext cx="12192000" cy="263313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print"/>
          <a:srcRect l="2512" b="27492"/>
          <a:stretch>
            <a:fillRect/>
          </a:stretch>
        </p:blipFill>
        <p:spPr>
          <a:xfrm>
            <a:off x="1" y="5548626"/>
            <a:ext cx="6809753" cy="1172576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6713984"/>
            <a:ext cx="12192000" cy="144016"/>
          </a:xfrm>
          <a:prstGeom prst="rect">
            <a:avLst/>
          </a:prstGeom>
          <a:solidFill>
            <a:srgbClr val="0080C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2"/>
            <a:ext cx="3288149" cy="685799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25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568157" y="2059182"/>
            <a:ext cx="7887243" cy="2333452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2800" b="1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添加目录</a:t>
            </a:r>
            <a:endParaRPr lang="zh-CN" altLang="en-US" dirty="0"/>
          </a:p>
        </p:txBody>
      </p:sp>
      <p:sp>
        <p:nvSpPr>
          <p:cNvPr id="26" name="文本框 25"/>
          <p:cNvSpPr txBox="1"/>
          <p:nvPr userDrawn="1"/>
        </p:nvSpPr>
        <p:spPr>
          <a:xfrm>
            <a:off x="1377255" y="838201"/>
            <a:ext cx="25817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 录</a:t>
            </a:r>
            <a:endParaRPr lang="zh-CN" altLang="en-US" sz="3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直接连接符 26"/>
          <p:cNvCxnSpPr/>
          <p:nvPr userDrawn="1"/>
        </p:nvCxnSpPr>
        <p:spPr>
          <a:xfrm>
            <a:off x="1136438" y="1484531"/>
            <a:ext cx="214258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 userDrawn="1"/>
        </p:nvCxnSpPr>
        <p:spPr>
          <a:xfrm>
            <a:off x="3275130" y="1484531"/>
            <a:ext cx="8916871" cy="0"/>
          </a:xfrm>
          <a:prstGeom prst="line">
            <a:avLst/>
          </a:prstGeom>
          <a:ln>
            <a:solidFill>
              <a:srgbClr val="0080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print"/>
          <a:srcRect l="2963" b="14655"/>
          <a:stretch>
            <a:fillRect/>
          </a:stretch>
        </p:blipFill>
        <p:spPr>
          <a:xfrm>
            <a:off x="2" y="4088778"/>
            <a:ext cx="3288149" cy="276922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/>
          <p:cNvSpPr/>
          <p:nvPr userDrawn="1"/>
        </p:nvSpPr>
        <p:spPr>
          <a:xfrm>
            <a:off x="226782" y="241548"/>
            <a:ext cx="42729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第一部分   </a:t>
            </a:r>
            <a:r>
              <a: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一季度主要预算指标完成情况</a:t>
            </a: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38157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第二部分   一季度重点工作完成情况</a:t>
            </a: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3129915" cy="7988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第三部分   存在的问题及风险</a:t>
            </a: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  <a:p>
            <a:pPr>
              <a:spcAft>
                <a:spcPts val="1200"/>
              </a:spcAft>
            </a:pP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29013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第四部分   二季度工作计划</a:t>
            </a:r>
            <a:endParaRPr lang="zh-CN" altLang="en-US" sz="1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648130" y="46556"/>
            <a:ext cx="3475021" cy="841321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0" y="703214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 userDrawn="1"/>
        </p:nvSpPr>
        <p:spPr>
          <a:xfrm>
            <a:off x="226782" y="241548"/>
            <a:ext cx="450151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lang="zh-CN" altLang="en-US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第五部分   </a:t>
            </a:r>
            <a:r>
              <a:rPr lang="zh-CN" altLang="zh-CN" sz="1800" b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需要总部协助解决的问题及建议</a:t>
            </a:r>
            <a:endParaRPr lang="zh-CN" altLang="en-US" sz="1800" b="1" kern="12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 userDrawn="1"/>
        </p:nvSpPr>
        <p:spPr>
          <a:xfrm>
            <a:off x="0" y="1"/>
            <a:ext cx="12192000" cy="10113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-43176" y="1620983"/>
            <a:ext cx="7126480" cy="1589924"/>
          </a:xfrm>
          <a:prstGeom prst="rect">
            <a:avLst/>
          </a:prstGeom>
        </p:spPr>
      </p:pic>
      <p:sp>
        <p:nvSpPr>
          <p:cNvPr id="8" name="矩形 7"/>
          <p:cNvSpPr/>
          <p:nvPr userDrawn="1"/>
        </p:nvSpPr>
        <p:spPr>
          <a:xfrm>
            <a:off x="0" y="2784764"/>
            <a:ext cx="12192000" cy="4091943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 rotWithShape="1">
          <a:blip r:embed="rId3" cstate="print"/>
          <a:srcRect b="30010"/>
          <a:stretch>
            <a:fillRect/>
          </a:stretch>
        </p:blipFill>
        <p:spPr>
          <a:xfrm>
            <a:off x="7645096" y="2373314"/>
            <a:ext cx="4089705" cy="520993"/>
          </a:xfrm>
          <a:prstGeom prst="rect">
            <a:avLst/>
          </a:prstGeom>
        </p:spPr>
      </p:pic>
      <p:sp>
        <p:nvSpPr>
          <p:cNvPr id="10" name="标题 1"/>
          <p:cNvSpPr>
            <a:spLocks noGrp="1"/>
          </p:cNvSpPr>
          <p:nvPr>
            <p:ph type="ctrTitle" hasCustomPrompt="1"/>
          </p:nvPr>
        </p:nvSpPr>
        <p:spPr>
          <a:xfrm>
            <a:off x="535709" y="2886566"/>
            <a:ext cx="10972800" cy="1641451"/>
          </a:xfrm>
        </p:spPr>
        <p:txBody>
          <a:bodyPr anchor="b">
            <a:normAutofit/>
          </a:bodyPr>
          <a:lstStyle>
            <a:lvl1pPr algn="ctr">
              <a:defRPr sz="4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结束语</a:t>
            </a:r>
            <a:endParaRPr lang="zh-CN" altLang="en-US" dirty="0"/>
          </a:p>
        </p:txBody>
      </p:sp>
      <p:sp>
        <p:nvSpPr>
          <p:cNvPr id="11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35709" y="4551949"/>
            <a:ext cx="10972800" cy="816691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单击以编辑母版副标题样式</a:t>
            </a:r>
            <a:endParaRPr lang="zh-CN" altLang="en-US" dirty="0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0837428" y="6531307"/>
            <a:ext cx="769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i="1" dirty="0">
                <a:solidFill>
                  <a:srgbClr val="00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Lwy</a:t>
            </a:r>
            <a:r>
              <a:rPr lang="zh-CN" altLang="en-US" sz="1200" i="1" dirty="0">
                <a:solidFill>
                  <a:srgbClr val="00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制作</a:t>
            </a:r>
            <a:endParaRPr lang="zh-CN" altLang="en-US" sz="1200" i="1" dirty="0">
              <a:solidFill>
                <a:srgbClr val="005A9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image" Target="../media/image8.png"/><Relationship Id="rId2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40.xml"/><Relationship Id="rId21" Type="http://schemas.openxmlformats.org/officeDocument/2006/relationships/image" Target="../media/image8.png"/><Relationship Id="rId2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2.xml"/><Relationship Id="rId13" Type="http://schemas.openxmlformats.org/officeDocument/2006/relationships/slideLayout" Target="../slideLayouts/slideLayout53.xml"/><Relationship Id="rId14" Type="http://schemas.openxmlformats.org/officeDocument/2006/relationships/slideLayout" Target="../slideLayouts/slideLayout54.xml"/><Relationship Id="rId15" Type="http://schemas.openxmlformats.org/officeDocument/2006/relationships/image" Target="../media/image8.png"/><Relationship Id="rId1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9" name="Slide Number Placeholder 5"/>
          <p:cNvSpPr txBox="1"/>
          <p:nvPr userDrawn="1"/>
        </p:nvSpPr>
        <p:spPr>
          <a:xfrm>
            <a:off x="11520418" y="6426202"/>
            <a:ext cx="768343" cy="282575"/>
          </a:xfrm>
          <a:prstGeom prst="rect">
            <a:avLst/>
          </a:prstGeom>
        </p:spPr>
        <p:txBody>
          <a:bodyPr anchor="ctr" anchorCtr="0"/>
          <a:lstStyle>
            <a:defPPr>
              <a:defRPr lang="en-US"/>
            </a:defPPr>
            <a:lvl1pPr marL="0" algn="ctr" defTabSz="457200" rtl="0" eaLnBrk="1" latinLnBrk="0" hangingPunct="1"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8BF7CA67-5589-4186-9742-7914EAD1F95A}" type="slidenum">
              <a:rPr lang="zh-CN" altLang="en-US" sz="1400" b="1" smtClean="0">
                <a:solidFill>
                  <a:schemeClr val="tx1">
                    <a:lumMod val="50000"/>
                    <a:lumOff val="50000"/>
                  </a:schemeClr>
                </a:solidFill>
              </a:rPr>
            </a:fld>
            <a:endParaRPr lang="zh-CN" altLang="en-US" sz="1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0" name="直接连接符 9"/>
          <p:cNvCxnSpPr/>
          <p:nvPr userDrawn="1"/>
        </p:nvCxnSpPr>
        <p:spPr>
          <a:xfrm>
            <a:off x="11423659" y="6426201"/>
            <a:ext cx="0" cy="282574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图片 11" descr="微信图片_20260417170759_7057_5"/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7640955" y="6323965"/>
            <a:ext cx="3686175" cy="53530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9" name="Slide Number Placeholder 5"/>
          <p:cNvSpPr txBox="1"/>
          <p:nvPr userDrawn="1"/>
        </p:nvSpPr>
        <p:spPr>
          <a:xfrm>
            <a:off x="11520418" y="6426202"/>
            <a:ext cx="768343" cy="282575"/>
          </a:xfrm>
          <a:prstGeom prst="rect">
            <a:avLst/>
          </a:prstGeom>
        </p:spPr>
        <p:txBody>
          <a:bodyPr anchor="ctr" anchorCtr="0"/>
          <a:lstStyle>
            <a:defPPr>
              <a:defRPr lang="en-US"/>
            </a:defPPr>
            <a:lvl1pPr marL="0" algn="ctr" defTabSz="457200" rtl="0" eaLnBrk="1" latinLnBrk="0" hangingPunct="1"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8BF7CA67-5589-4186-9742-7914EAD1F95A}" type="slidenum">
              <a:rPr lang="zh-CN" altLang="en-US" sz="1400" b="1" smtClean="0">
                <a:solidFill>
                  <a:schemeClr val="tx1">
                    <a:lumMod val="50000"/>
                    <a:lumOff val="50000"/>
                  </a:schemeClr>
                </a:solidFill>
              </a:rPr>
            </a:fld>
            <a:endParaRPr lang="zh-CN" altLang="en-US" sz="1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0" name="直接连接符 9"/>
          <p:cNvCxnSpPr/>
          <p:nvPr userDrawn="1"/>
        </p:nvCxnSpPr>
        <p:spPr>
          <a:xfrm>
            <a:off x="11423659" y="6426201"/>
            <a:ext cx="0" cy="282574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 descr="微信图片_20260417170759_7057_5"/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7640955" y="6311900"/>
            <a:ext cx="3686175" cy="53530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7CA67-5589-4186-9742-7914EAD1F95A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8369301" y="703214"/>
            <a:ext cx="3822700" cy="3921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9" name="Slide Number Placeholder 5"/>
          <p:cNvSpPr txBox="1"/>
          <p:nvPr userDrawn="1"/>
        </p:nvSpPr>
        <p:spPr>
          <a:xfrm>
            <a:off x="11520418" y="6426202"/>
            <a:ext cx="768343" cy="282575"/>
          </a:xfrm>
          <a:prstGeom prst="rect">
            <a:avLst/>
          </a:prstGeom>
        </p:spPr>
        <p:txBody>
          <a:bodyPr anchor="ctr" anchorCtr="0"/>
          <a:lstStyle>
            <a:defPPr>
              <a:defRPr lang="en-US"/>
            </a:defPPr>
            <a:lvl1pPr marL="0" algn="ctr" defTabSz="457200" rtl="0" eaLnBrk="1" latinLnBrk="0" hangingPunct="1"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8BF7CA67-5589-4186-9742-7914EAD1F95A}" type="slidenum">
              <a:rPr lang="zh-CN" altLang="en-US" sz="1400" b="1" smtClean="0">
                <a:solidFill>
                  <a:schemeClr val="tx1">
                    <a:lumMod val="50000"/>
                    <a:lumOff val="50000"/>
                  </a:schemeClr>
                </a:solidFill>
              </a:rPr>
            </a:fld>
            <a:endParaRPr lang="zh-CN" altLang="en-US" sz="1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0" name="直接连接符 9"/>
          <p:cNvCxnSpPr/>
          <p:nvPr userDrawn="1"/>
        </p:nvCxnSpPr>
        <p:spPr>
          <a:xfrm>
            <a:off x="11423659" y="6426201"/>
            <a:ext cx="0" cy="282574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图片 11" descr="微信图片_20260417170759_7057_5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640955" y="6323965"/>
            <a:ext cx="3686175" cy="53530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100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00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1280160"/>
            <a:ext cx="9052560" cy="832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8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一季度运营分析会汇报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24912" y="2231136"/>
            <a:ext cx="6958584" cy="603504"/>
          </a:xfrm>
          <a:prstGeom prst="roundRect">
            <a:avLst/>
          </a:prstGeom>
          <a:solidFill>
            <a:srgbClr val="008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24912" y="2231136"/>
            <a:ext cx="695858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2026 年一季度运营分析会  ·  信息化系统建设与运营专题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3319272"/>
            <a:ext cx="3630168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汇报部门：信息化运营管理部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9392" y="4023360"/>
            <a:ext cx="3630168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二〇二六年四月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913632" y="1856231"/>
            <a:ext cx="1874519" cy="438912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13632" y="1856231"/>
            <a:ext cx="187451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第一部分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59552" y="1856231"/>
            <a:ext cx="5440680" cy="438912"/>
          </a:xfrm>
          <a:prstGeom prst="roundRect">
            <a:avLst/>
          </a:prstGeom>
          <a:solidFill>
            <a:srgbClr val="EEF5FC"/>
          </a:solidFill>
          <a:ln w="9525">
            <a:solidFill>
              <a:srgbClr val="D9E9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88152" y="1856231"/>
            <a:ext cx="5212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一季度总体指标完成情况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13632" y="2953511"/>
            <a:ext cx="1874519" cy="438912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13632" y="2953511"/>
            <a:ext cx="187451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第二部分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2953511"/>
            <a:ext cx="5440680" cy="438912"/>
          </a:xfrm>
          <a:prstGeom prst="roundRect">
            <a:avLst/>
          </a:prstGeom>
          <a:solidFill>
            <a:srgbClr val="EEF5FC"/>
          </a:solidFill>
          <a:ln w="9525">
            <a:solidFill>
              <a:srgbClr val="D9E9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88152" y="2953511"/>
            <a:ext cx="5212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一季度工作进展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13632" y="4050791"/>
            <a:ext cx="1874519" cy="438912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13632" y="4050791"/>
            <a:ext cx="187451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第三部分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59552" y="4050791"/>
            <a:ext cx="5440680" cy="438912"/>
          </a:xfrm>
          <a:prstGeom prst="roundRect">
            <a:avLst/>
          </a:prstGeom>
          <a:solidFill>
            <a:srgbClr val="EEF5FC"/>
          </a:solidFill>
          <a:ln w="9525">
            <a:solidFill>
              <a:srgbClr val="D9E9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88152" y="4050791"/>
            <a:ext cx="5212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存在的问题及不足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3632" y="5148071"/>
            <a:ext cx="1874519" cy="438912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13632" y="5148071"/>
            <a:ext cx="187451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第四部分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59552" y="5148071"/>
            <a:ext cx="5440680" cy="438912"/>
          </a:xfrm>
          <a:prstGeom prst="roundRect">
            <a:avLst/>
          </a:prstGeom>
          <a:solidFill>
            <a:srgbClr val="EEF5FC"/>
          </a:solidFill>
          <a:ln w="9525">
            <a:solidFill>
              <a:srgbClr val="D9E9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88152" y="5148071"/>
            <a:ext cx="5212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二季度工作计划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21992" y="3026664"/>
            <a:ext cx="7772400" cy="877824"/>
          </a:xfrm>
        </p:spPr>
        <p:txBody>
          <a:bodyPr/>
          <a:lstStyle/>
          <a:p>
            <a:pPr algn="ctr"/>
            <a:r>
              <a:rPr sz="44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一季度总体指标完成情况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1992" y="2066543"/>
            <a:ext cx="7772400" cy="960120"/>
          </a:xfrm>
        </p:spPr>
        <p:txBody>
          <a:bodyPr/>
          <a:lstStyle/>
          <a:p>
            <a:pPr algn="ctr"/>
            <a:r>
              <a:rPr sz="36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第一部分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960120"/>
            <a:ext cx="91440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一、一季度核心指标完成情况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经营指标 · 现金质量 · 风险信号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74519"/>
            <a:ext cx="3749039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19"/>
            <a:ext cx="3749039" cy="9144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57399"/>
            <a:ext cx="32918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合 同 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39"/>
            <a:ext cx="19202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33.13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65175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万元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79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Q1 累计签约金额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874519"/>
            <a:ext cx="3749039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874519"/>
            <a:ext cx="3749039" cy="9144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2057399"/>
            <a:ext cx="32918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营业收入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377439"/>
            <a:ext cx="19202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6.25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39" y="265175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万元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3154679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Q1 累计实现营收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38" y="1874519"/>
            <a:ext cx="3749039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38" y="1874519"/>
            <a:ext cx="3749039" cy="914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2057399"/>
            <a:ext cx="32918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利 润 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8" y="2377439"/>
            <a:ext cx="19202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>
                <a:solidFill>
                  <a:srgbClr val="2E8B57"/>
                </a:solidFill>
                <a:ea typeface="微软雅黑"/>
                <a:cs typeface="微软雅黑"/>
                <a:latin typeface="微软雅黑"/>
              </a:rPr>
              <a:t>243.67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18" y="265175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万元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38" y="3154679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经营效益保持稳健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749039"/>
            <a:ext cx="3749039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749039"/>
            <a:ext cx="3749039" cy="91440"/>
          </a:xfrm>
          <a:prstGeom prst="rect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31919"/>
            <a:ext cx="32918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回 款 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51959"/>
            <a:ext cx="19202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313.8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52627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万元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199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现金回款 313.8 万元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3749039"/>
            <a:ext cx="3749039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59" y="3749039"/>
            <a:ext cx="3749039" cy="91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931919"/>
            <a:ext cx="32918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负流项目占比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59" y="4251959"/>
            <a:ext cx="19202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>
                <a:solidFill>
                  <a:srgbClr val="F5A623"/>
                </a:solidFill>
                <a:ea typeface="微软雅黑"/>
                <a:cs typeface="微软雅黑"/>
                <a:latin typeface="微软雅黑"/>
              </a:rP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39" y="452627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59" y="5029199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项目纠偏需重点关注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38" y="3749039"/>
            <a:ext cx="3749039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2438" y="3749039"/>
            <a:ext cx="3749039" cy="914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38" y="3931919"/>
            <a:ext cx="32918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总负流金额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38" y="4251959"/>
            <a:ext cx="19202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>
                <a:solidFill>
                  <a:srgbClr val="C0392B"/>
                </a:solidFill>
                <a:ea typeface="微软雅黑"/>
                <a:cs typeface="微软雅黑"/>
                <a:latin typeface="微软雅黑"/>
              </a:rPr>
              <a:t>-85.3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61318" y="452627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万元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38" y="5029199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现金流压力指标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760720"/>
            <a:ext cx="11338560" cy="594360"/>
          </a:xfrm>
          <a:prstGeom prst="rect">
            <a:avLst/>
          </a:prstGeom>
          <a:solidFill>
            <a:srgbClr val="D9E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5760720"/>
            <a:ext cx="91440" cy="5943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7607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总体研判：回款全部为现金，资金质量较高；合同与营业收入受年初节奏影响规模偏小；负流占比 17%、总负流 -85.3 万元，需重点强化项目纠偏与现金流管控。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960120"/>
            <a:ext cx="91440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二、一季度核心指标质量分析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资金质量 · 经营效益 · 风险信号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557784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5577840" cy="4572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▎一、回款结构分析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现金回款占比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2E8B57"/>
                </a:solidFill>
                <a:ea typeface="微软雅黑"/>
                <a:cs typeface="微软雅黑"/>
                <a:latin typeface="微软雅黑"/>
              </a:rPr>
              <a:t>100%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20440"/>
            <a:ext cx="5029200" cy="2743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20440"/>
            <a:ext cx="5029200" cy="2743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20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313.8 / 313.8 万元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· 现金部分：313.8 万元</a:t>
            </a:r>
          </a:p>
          <a:p>
            <a:pPr algn="l">
              <a:lnSpc>
                <a:spcPct val="140000"/>
              </a:lnSpc>
            </a:pPr>
            <a:r>
              <a:rPr sz="13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· 非现金部分：0 万元</a:t>
            </a:r>
          </a:p>
          <a:p>
            <a:pPr algn="l">
              <a:lnSpc>
                <a:spcPct val="140000"/>
              </a:lnSpc>
            </a:pPr>
            <a:r>
              <a:rPr sz="600" b="0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研判：一季度回款全部为现金，资金质量较高；后续应继续坚持现金优先原则，兼顾回款规模与现金占比的协同提升。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783080"/>
            <a:ext cx="557784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5577840" cy="457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78308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▎二、负流风险研判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4231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项目个数占比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743200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F5A623"/>
                </a:solidFill>
                <a:ea typeface="微软雅黑"/>
                <a:cs typeface="微软雅黑"/>
                <a:latin typeface="微软雅黑"/>
              </a:rPr>
              <a:t>17%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4272" y="24231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总负流金额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4272" y="274320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C0392B"/>
                </a:solidFill>
                <a:ea typeface="微软雅黑"/>
                <a:cs typeface="微软雅黑"/>
                <a:latin typeface="微软雅黑"/>
              </a:rPr>
              <a:t>-85.3 万元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73952" y="3657600"/>
            <a:ext cx="5093208" cy="0"/>
          </a:xfrm>
          <a:prstGeom prst="line">
            <a:avLst/>
          </a:prstGeom>
          <a:ln w="12700">
            <a:solidFill>
              <a:srgbClr val="D7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73952" y="3749039"/>
            <a:ext cx="50749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应对举措：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· 项目层面：开展负流项目专项盘点，逐项制定纠偏方案；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· 过程管控：强化产值、回款、成本三同步管理；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· 月度复盘：建立月度负流通报与预警机制，压实责任。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21992" y="3026664"/>
            <a:ext cx="7772400" cy="877824"/>
          </a:xfrm>
        </p:spPr>
        <p:txBody>
          <a:bodyPr/>
          <a:lstStyle/>
          <a:p>
            <a:pPr algn="ctr"/>
            <a:r>
              <a:rPr sz="44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一季度工作进展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1992" y="2066543"/>
            <a:ext cx="7772400" cy="960120"/>
          </a:xfrm>
        </p:spPr>
        <p:txBody>
          <a:bodyPr/>
          <a:lstStyle/>
          <a:p>
            <a:pPr algn="ctr"/>
            <a:r>
              <a:rPr sz="36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第二部分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960120"/>
            <a:ext cx="91440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一、一季度工作进展总览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两条主线 · 多维突破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11384280" cy="594360"/>
          </a:xfrm>
          <a:prstGeom prst="rect">
            <a:avLst/>
          </a:prstGeom>
          <a:solidFill>
            <a:srgbClr val="D9E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828800"/>
            <a:ext cx="113842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以业务需求为导向　|　以系统建设为牵引　|　以稳定运维为保障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697480"/>
            <a:ext cx="5577840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5303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（一）系统建设情况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200400"/>
            <a:ext cx="55778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621024"/>
            <a:ext cx="118872" cy="118872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信创 OA 系统：核心功能切换上线、26 家二级单位大家签适配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306824"/>
            <a:ext cx="118872" cy="118872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信创 OA 系统：城市运营公司 104 条流程搭建上线，流程优化迭代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992624"/>
            <a:ext cx="118872" cy="118872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数智工会系统：5 大模块 2 月 5 日全局上线，覆盖 2710 名干部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678424"/>
            <a:ext cx="118872" cy="118872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5321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数智工会系统：完成干部端 9 个功能模块开发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97480"/>
            <a:ext cx="5577840" cy="502920"/>
          </a:xfrm>
          <a:prstGeom prst="rect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697480"/>
            <a:ext cx="5303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（二）系统运维情况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200400"/>
            <a:ext cx="55778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3621024"/>
            <a:ext cx="118872" cy="118872"/>
          </a:xfrm>
          <a:prstGeom prst="ellipse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4747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组织机构：保障中建科技合并、运营投资类公司整合落地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306824"/>
            <a:ext cx="118872" cy="118872"/>
          </a:xfrm>
          <a:prstGeom prst="ellipse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1605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八局通：处理工单 475 条，应用上线 8 个，缺陷修复 10/13</a:t>
            </a:r>
          </a:p>
        </p:txBody>
      </p:sp>
      <p:sp>
        <p:nvSpPr>
          <p:cNvPr id="25" name="Oval 24"/>
          <p:cNvSpPr/>
          <p:nvPr/>
        </p:nvSpPr>
        <p:spPr>
          <a:xfrm>
            <a:off x="6446520" y="4992624"/>
            <a:ext cx="118872" cy="118872"/>
          </a:xfrm>
          <a:prstGeom prst="ellipse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48463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信创 OA 上云：汉数科 5 类应用搭建上线，4 月 1 日切换审批</a:t>
            </a:r>
          </a:p>
        </p:txBody>
      </p:sp>
      <p:sp>
        <p:nvSpPr>
          <p:cNvPr id="27" name="Oval 26"/>
          <p:cNvSpPr/>
          <p:nvPr/>
        </p:nvSpPr>
        <p:spPr>
          <a:xfrm>
            <a:off x="6446520" y="5678424"/>
            <a:ext cx="118872" cy="118872"/>
          </a:xfrm>
          <a:prstGeom prst="ellipse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55321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八局云盘：版本升级，保障 8 万用户、69T 文件平稳迁移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960120"/>
            <a:ext cx="91440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二、信创 OA 系统｜整体推进情况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切换上线 · 运维保障 · 二级承接 · 优化迭代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278892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2788920" cy="1417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920240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核心功能
切换上线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33172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局总部公文、新闻、公告、流程中心等核心功能全部切换上线，二级单位除基础功能外亦实现全面上线运行。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828800"/>
            <a:ext cx="278892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828800"/>
            <a:ext cx="2788920" cy="1417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920240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542032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重点流程
专项保障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429000"/>
            <a:ext cx="233172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针对发起量较大的局总部公文、新闻、财务等关键流程开展专项保障，并对二级单位流程搭建提供答疑支持。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828800"/>
            <a:ext cx="278892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828800"/>
            <a:ext cx="2788920" cy="1417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920240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542032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二级单位
搭建承接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29000"/>
            <a:ext cx="233172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城市运营公司完成 103 条流程搭建；南方公司完成 130+ 条需求梳理；浙江公司流程需求处于对接报价阶段。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828800"/>
            <a:ext cx="278892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1828800"/>
            <a:ext cx="2788920" cy="1417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1920240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542032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局总部流程
优化迭代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429000"/>
            <a:ext cx="233172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局总部流程持续优化迭代，重点针对用印等高频流程进行优化完善（由致远提供相关支持）。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960120"/>
            <a:ext cx="91440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三、信创 OA 系统｜重点工作成效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功能适配 · 流程建设 · 数据对接 · 运营管控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914400" cy="107899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828800"/>
            <a:ext cx="91440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一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5880" y="1828800"/>
            <a:ext cx="3291840" cy="1078992"/>
          </a:xfrm>
          <a:prstGeom prst="rect">
            <a:avLst/>
          </a:prstGeom>
          <a:solidFill>
            <a:srgbClr val="D9E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310896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聚焦功能适配与开发
夯实系统应用基础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828800"/>
            <a:ext cx="717804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828800"/>
            <a:ext cx="694944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完成 26 家二级单位「大家签」适配开发；外部主数据同步功能已上线，累计同步 28 家外部单位主数据、2402 条人员主数据。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971800"/>
            <a:ext cx="914400" cy="1078992"/>
          </a:xfrm>
          <a:prstGeom prst="rect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971800"/>
            <a:ext cx="91440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2971800"/>
            <a:ext cx="3291840" cy="1078992"/>
          </a:xfrm>
          <a:prstGeom prst="rect">
            <a:avLst/>
          </a:prstGeom>
          <a:solidFill>
            <a:srgbClr val="D9E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2971800"/>
            <a:ext cx="310896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强化流程建设与优化
提升办公协同效能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17720" y="2971800"/>
            <a:ext cx="717804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971800"/>
            <a:ext cx="694944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完成城市运营公司及下级单位 104 条流程上线；优化局总部行政用印、投资运营事业部、工程研究院相关流程；优化公文套红模板。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14800"/>
            <a:ext cx="914400" cy="107899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4800"/>
            <a:ext cx="91440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5880" y="4114800"/>
            <a:ext cx="3291840" cy="1078992"/>
          </a:xfrm>
          <a:prstGeom prst="rect">
            <a:avLst/>
          </a:prstGeom>
          <a:solidFill>
            <a:srgbClr val="D9E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08760" y="4114800"/>
            <a:ext cx="310896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推进系统迭代与数据对接
强化数据赋能能力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7720" y="4114800"/>
            <a:ext cx="717804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4114800"/>
            <a:ext cx="694944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完成文件中心三级单位页面开发上线，规范文件流转；完成集团应用使用情况看板指标对接，实现运营数据可视化。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257800"/>
            <a:ext cx="914400" cy="1078992"/>
          </a:xfrm>
          <a:prstGeom prst="rect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5257800"/>
            <a:ext cx="91440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5257800"/>
            <a:ext cx="3291840" cy="1078992"/>
          </a:xfrm>
          <a:prstGeom prst="rect">
            <a:avLst/>
          </a:prstGeom>
          <a:solidFill>
            <a:srgbClr val="D9E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08760" y="5257800"/>
            <a:ext cx="310896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抓实系统运营管控
保障系统平稳运行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17720" y="5257800"/>
            <a:ext cx="717804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5257800"/>
            <a:ext cx="694944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系统累计发起流程 32249 件、办结 22249 件、完成 10257 件，未出现重大系统故障及业务卡顿问题，整体运行平稳。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960120"/>
            <a:ext cx="91440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四、信创 OA 系统｜运营数据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量化呈现 · 数据说话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74519"/>
            <a:ext cx="370332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19"/>
            <a:ext cx="91440" cy="18288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发起流程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4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32,249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74519"/>
            <a:ext cx="370332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874519"/>
            <a:ext cx="91440" cy="1828800"/>
          </a:xfrm>
          <a:prstGeom prst="rect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011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办结流程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7744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4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22,249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91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19" y="1874519"/>
            <a:ext cx="370332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19" y="1874519"/>
            <a:ext cx="91440" cy="1828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39" y="2011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完成流程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39" y="237744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400" b="1">
                <a:solidFill>
                  <a:srgbClr val="2E8B57"/>
                </a:solidFill>
                <a:ea typeface="微软雅黑"/>
                <a:cs typeface="微软雅黑"/>
                <a:latin typeface="微软雅黑"/>
              </a:rPr>
              <a:t>10,257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39" y="3291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023360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▎新老 OA 系统流程审批数据对比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1480" y="4434840"/>
            <a:ext cx="11384280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11480" y="4572000"/>
            <a:ext cx="3017520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57200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系统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29000" y="4572000"/>
            <a:ext cx="2286000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0" y="457200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流程审批量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0" y="4572000"/>
            <a:ext cx="2286000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0" y="457200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审批人次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01000" y="4572000"/>
            <a:ext cx="3794760" cy="5029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4572000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说明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074920"/>
            <a:ext cx="30175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07492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新信创 OA 系统（全局）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29000" y="507492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507492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3.557 万条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0" y="507492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0" y="507492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35.289 万人次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1000" y="5074920"/>
            <a:ext cx="37947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5074920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二级单位逐步切换，4 月 1 日完成审批切换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577840"/>
            <a:ext cx="3017520" cy="502920"/>
          </a:xfrm>
          <a:prstGeom prst="rect">
            <a:avLst/>
          </a:prstGeom>
          <a:solidFill>
            <a:srgbClr val="F2F5FA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5778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原 OA 系统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29000" y="5577840"/>
            <a:ext cx="2286000" cy="502920"/>
          </a:xfrm>
          <a:prstGeom prst="rect">
            <a:avLst/>
          </a:prstGeom>
          <a:solidFill>
            <a:srgbClr val="F2F5FA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66160" y="557784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10.18 万条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15000" y="5577840"/>
            <a:ext cx="2286000" cy="502920"/>
          </a:xfrm>
          <a:prstGeom prst="rect">
            <a:avLst/>
          </a:prstGeom>
          <a:solidFill>
            <a:srgbClr val="F2F5FA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52160" y="557784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54.79 万人次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01000" y="5577840"/>
            <a:ext cx="3794760" cy="502920"/>
          </a:xfrm>
          <a:prstGeom prst="rect">
            <a:avLst/>
          </a:prstGeom>
          <a:solidFill>
            <a:srgbClr val="F2F5FA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8160" y="5577840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并行运行期保障业务连续性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960120"/>
            <a:ext cx="91440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五、数智工会系统｜干部端全局推广上线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2 月 5 日 · 全局上线 · 全面覆盖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11384280" cy="5943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828800"/>
            <a:ext cx="113842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■  完成荣誉奖项、劳动竞赛、技能竞赛、服务阵地、困难职工 5 大模块开发测试，2026 年 2 月 5 日全局上线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697480"/>
            <a:ext cx="37033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2697480"/>
            <a:ext cx="91440" cy="123444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2,223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747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工会组织（个）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697480"/>
            <a:ext cx="37033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2697480"/>
            <a:ext cx="91440" cy="123444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78892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2,710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4747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覆盖工会干部（名）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697480"/>
            <a:ext cx="37033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2697480"/>
            <a:ext cx="91440" cy="123444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78892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1,321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4747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荣誉奖项 · 集体（条）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096512"/>
            <a:ext cx="37033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096512"/>
            <a:ext cx="91440" cy="123444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18795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955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873752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荣誉奖项 · 个人（条）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096512"/>
            <a:ext cx="37033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4096512"/>
            <a:ext cx="91440" cy="123444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418795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2,212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873752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劳模先进（条）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096512"/>
            <a:ext cx="37033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01000" y="4096512"/>
            <a:ext cx="91440" cy="123444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418795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157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873752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劳动竞赛局级立项（条）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D9E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760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创新工作室录入 364 个，服务阵地覆盖 511 个，应用基础数据初具规模。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960120"/>
            <a:ext cx="91440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六、数智工会系统｜干部端运维与开发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9 大模块 · 完善服务体系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82880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围绕基层工会干部实际工作需求，完成 9 个核心模块开发，进一步丰富数智工会系统功能体系，提升用户体验。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606040"/>
            <a:ext cx="3703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288036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78892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筑缘相亲交友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27832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# 服务关怀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606040"/>
            <a:ext cx="3703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89120" y="288036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8803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78892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福利清单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3227832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# 权益保障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2606040"/>
            <a:ext cx="3703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83880" y="288036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28803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78892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幸福清单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227832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# 权益保障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867912"/>
            <a:ext cx="3703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4142232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14223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50792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积分管理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489704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# 运营激励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3867912"/>
            <a:ext cx="3703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89120" y="4142232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414223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4050792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会员码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4489704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# 身份服务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3867912"/>
            <a:ext cx="3703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83880" y="4142232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414223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4050792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慰问申请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4489704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# 服务关怀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129784"/>
            <a:ext cx="3703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4360" y="5404104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40410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5312664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文体协会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5751576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# 文体活动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06240" y="5129784"/>
            <a:ext cx="3703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89120" y="5404104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0" y="540410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74920" y="5312664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活动中心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5751576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# 文体活动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01000" y="5129784"/>
            <a:ext cx="3703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183880" y="5404104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83880" y="540410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9680" y="5312664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服务阵地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5751576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# 阵地建设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960120"/>
            <a:ext cx="91440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七、系统运维｜组织机构 · 八局通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基础维护 · 工单闭环 · 缺陷管理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557784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5577840" cy="4572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▎组织机构维护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231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在册机构单位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743200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913　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703320"/>
            <a:ext cx="5257800" cy="0"/>
          </a:xfrm>
          <a:prstGeom prst="line">
            <a:avLst/>
          </a:prstGeom>
          <a:ln w="12700">
            <a:solidFill>
              <a:srgbClr val="D7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840480"/>
            <a:ext cx="52120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一季度重点保障：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· 完成三级单位组织调整事项的平稳落地；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· 保障中建科技公司合并；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· 保障运营投资类公司整合；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· 确保组织机构数据与实际管理架构同步。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828800"/>
            <a:ext cx="557784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828800"/>
            <a:ext cx="5577840" cy="457200"/>
          </a:xfrm>
          <a:prstGeom prst="rect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82880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▎八局通运维支持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2423160"/>
            <a:ext cx="2606040" cy="1783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5603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工单处理（条）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834640"/>
            <a:ext cx="2423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475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70332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全部办结闭环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88552" y="2423160"/>
            <a:ext cx="2606040" cy="1783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25603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应用上线（个）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834640"/>
            <a:ext cx="2423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370332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助力业务上云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91072" y="4297679"/>
            <a:ext cx="2606040" cy="1783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4434839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系统故障（起）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709159"/>
            <a:ext cx="2423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5577839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运行稳定可控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88552" y="4297679"/>
            <a:ext cx="2606040" cy="1783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1432" y="4434839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缺陷修复进度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4709159"/>
            <a:ext cx="2423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10/13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1432" y="5577839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剩 3 个待新版本验证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960120"/>
            <a:ext cx="91440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八、系统运维｜信创 OA 上云 · 八局云盘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云端切换 · 平稳运行 · 升级保障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113842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11384280" cy="4572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▎信创 OA 上云汉数科：会议预约 / 发文 / 新闻 / 通知公告 / 审批流程  ——  全部完成搭建上线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2316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966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会议申请（次）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97480" y="2468880"/>
            <a:ext cx="0" cy="1097280"/>
          </a:xfrm>
          <a:prstGeom prst="line">
            <a:avLst/>
          </a:prstGeom>
          <a:ln w="12700">
            <a:solidFill>
              <a:srgbClr val="D7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807208" y="242316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31089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文件发布（条）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10328" y="2468880"/>
            <a:ext cx="0" cy="1097280"/>
          </a:xfrm>
          <a:prstGeom prst="line">
            <a:avLst/>
          </a:prstGeom>
          <a:ln w="12700">
            <a:solidFill>
              <a:srgbClr val="D7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0056" y="242316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31089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通知公告（条）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23176" y="2468880"/>
            <a:ext cx="0" cy="1097280"/>
          </a:xfrm>
          <a:prstGeom prst="line">
            <a:avLst/>
          </a:prstGeom>
          <a:ln w="12700">
            <a:solidFill>
              <a:srgbClr val="D7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232904" y="242316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1089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新闻发布（条）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336024" y="2468880"/>
            <a:ext cx="0" cy="1097280"/>
          </a:xfrm>
          <a:prstGeom prst="line">
            <a:avLst/>
          </a:prstGeom>
          <a:ln w="12700">
            <a:solidFill>
              <a:srgbClr val="D7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45752" y="242316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4 月 1 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5752" y="31089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审批流程切换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611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■ 全局新 OA 累计完成审批流程 3.557 万条 / 35.289 万人次；老 OA 完成 10.18 万条 / 54.79 万人次。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160520"/>
            <a:ext cx="113842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160520"/>
            <a:ext cx="11384280" cy="457200"/>
          </a:xfrm>
          <a:prstGeom prst="rect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▎八局云盘版本升级：完成版本升级与平滑迁移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0060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8 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6928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用户规模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80060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69 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566928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迁移文件量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80060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2E8B57"/>
                </a:solidFill>
                <a:ea typeface="微软雅黑"/>
                <a:cs typeface="微软雅黑"/>
                <a:latin typeface="微软雅黑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66928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分享统计增强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4800600"/>
            <a:ext cx="2606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2E8B57"/>
                </a:solidFill>
                <a:ea typeface="微软雅黑"/>
                <a:cs typeface="微软雅黑"/>
                <a:latin typeface="微软雅黑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66928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安全防护加固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21992" y="3026664"/>
            <a:ext cx="7772400" cy="877824"/>
          </a:xfrm>
        </p:spPr>
        <p:txBody>
          <a:bodyPr/>
          <a:lstStyle/>
          <a:p>
            <a:pPr algn="ctr"/>
            <a:r>
              <a:rPr sz="44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存在的问题及不足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1992" y="2066543"/>
            <a:ext cx="7772400" cy="960120"/>
          </a:xfrm>
        </p:spPr>
        <p:txBody>
          <a:bodyPr/>
          <a:lstStyle/>
          <a:p>
            <a:pPr algn="ctr"/>
            <a:r>
              <a:rPr sz="36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第三部分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960120"/>
            <a:ext cx="91440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存在的问题及不足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正视短板 · 聚焦改进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3246120" cy="1417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868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5A623"/>
                </a:solidFill>
                <a:ea typeface="微软雅黑"/>
                <a:cs typeface="微软雅黑"/>
                <a:latin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01168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D9E9F6"/>
                </a:solidFill>
                <a:ea typeface="微软雅黑"/>
                <a:cs typeface="微软雅黑"/>
                <a:latin typeface="微软雅黑"/>
              </a:rPr>
              <a:t>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317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知识库沉淀不足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1828800"/>
            <a:ext cx="80924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920240"/>
            <a:ext cx="7818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现有运维知识体系尚不健全，相似问题缺乏标准化处置预案，运维人员遇到同类问题难以快速分析定位，影响响应效率与服务质量。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697480"/>
            <a:ext cx="7818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▎ 改进方向：健全知识管理与经验复用机制，建立标准化运维知识库与典型问题处置手册。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364992"/>
            <a:ext cx="3246120" cy="1417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56432"/>
            <a:ext cx="868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5A623"/>
                </a:solidFill>
                <a:ea typeface="微软雅黑"/>
                <a:cs typeface="微软雅黑"/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47872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D9E9F6"/>
                </a:solidFill>
                <a:ea typeface="微软雅黑"/>
                <a:cs typeface="微软雅黑"/>
                <a:latin typeface="微软雅黑"/>
              </a:rPr>
              <a:t>ISSUE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867912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二级单位推进进度不均衡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3364992"/>
            <a:ext cx="80924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3456432"/>
            <a:ext cx="7818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各二级单位流程搭建与上线进度存在差异，部分单位需求梳理及报价对接仍需提速，整体推进节奏需进一步统筹协调。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4233672"/>
            <a:ext cx="7818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▎ 改进方向：建立二级单位推进周报机制，分层分类落实进度管控与协调督办。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901184"/>
            <a:ext cx="3246120" cy="1417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92624"/>
            <a:ext cx="868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5A623"/>
                </a:solidFill>
                <a:ea typeface="微软雅黑"/>
                <a:cs typeface="微软雅黑"/>
                <a:latin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084064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D9E9F6"/>
                </a:solidFill>
                <a:ea typeface="微软雅黑"/>
                <a:cs typeface="微软雅黑"/>
                <a:latin typeface="微软雅黑"/>
              </a:rPr>
              <a:t>ISSUE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404104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数据应用深度有待提升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03320" y="4901184"/>
            <a:ext cx="80924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86200" y="4992624"/>
            <a:ext cx="7818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信创 OA、数智工会等平台已积累一定规模运营数据，但在数据分析、决策支持等方面挖掘不充分，数据价值释放有待进一步加强。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5769864"/>
            <a:ext cx="7818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▎ 改进方向：完善运营看板指标体系，推动数据驱动管理与智能化决策应用。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21992" y="3026664"/>
            <a:ext cx="7772400" cy="877824"/>
          </a:xfrm>
        </p:spPr>
        <p:txBody>
          <a:bodyPr/>
          <a:lstStyle/>
          <a:p>
            <a:pPr algn="ctr"/>
            <a:r>
              <a:rPr sz="44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二季度工作计划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1992" y="2066543"/>
            <a:ext cx="7772400" cy="960120"/>
          </a:xfrm>
        </p:spPr>
        <p:txBody>
          <a:bodyPr/>
          <a:lstStyle/>
          <a:p>
            <a:pPr algn="ctr"/>
            <a:r>
              <a:rPr sz="36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第四部分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960120"/>
            <a:ext cx="91440" cy="3840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二季度重点工作计划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37160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C95A6"/>
                </a:solidFill>
                <a:ea typeface="微软雅黑"/>
                <a:cs typeface="微软雅黑"/>
                <a:latin typeface="微软雅黑"/>
              </a:rPr>
              <a:t>时间节点 · 责任明确 · 量化目标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317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2194560" y="2011680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600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5 月底</a:t>
            </a:r>
          </a:p>
        </p:txBody>
      </p:sp>
      <p:sp>
        <p:nvSpPr>
          <p:cNvPr id="8" name="Oval 7"/>
          <p:cNvSpPr/>
          <p:nvPr/>
        </p:nvSpPr>
        <p:spPr>
          <a:xfrm>
            <a:off x="5943600" y="2011680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1600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6 月底</a:t>
            </a:r>
          </a:p>
        </p:txBody>
      </p:sp>
      <p:sp>
        <p:nvSpPr>
          <p:cNvPr id="10" name="Oval 9"/>
          <p:cNvSpPr/>
          <p:nvPr/>
        </p:nvSpPr>
        <p:spPr>
          <a:xfrm>
            <a:off x="9692640" y="2011680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00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6 月 30 日</a:t>
            </a:r>
          </a:p>
        </p:txBody>
      </p:sp>
      <p:sp>
        <p:nvSpPr>
          <p:cNvPr id="12" name="Oval 11"/>
          <p:cNvSpPr/>
          <p:nvPr/>
        </p:nvSpPr>
        <p:spPr>
          <a:xfrm>
            <a:off x="11247120" y="2011680"/>
            <a:ext cx="182880" cy="18288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1600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持续推进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743200"/>
            <a:ext cx="2743200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743200"/>
            <a:ext cx="2743200" cy="9144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611880"/>
            <a:ext cx="1828800" cy="3657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0070C0"/>
                </a:solidFill>
                <a:ea typeface="微软雅黑"/>
                <a:cs typeface="微软雅黑"/>
                <a:latin typeface="微软雅黑"/>
              </a:rPr>
              <a:t>⏱  6 月 30 日前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信创 OA 二级落地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617719"/>
            <a:ext cx="274320" cy="3657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7548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完成信创 OA 系统二级单位剩余功能及流程的上线工作，实现二级单位全面应用、全员覆盖。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73552" y="2743200"/>
            <a:ext cx="2743200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73552" y="2743200"/>
            <a:ext cx="2743200" cy="91440"/>
          </a:xfrm>
          <a:prstGeom prst="rect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2152" y="2971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02152" y="3611880"/>
            <a:ext cx="1828800" cy="3657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02152" y="3611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⏱  6 月底前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02152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移动端功能开发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02152" y="4617719"/>
            <a:ext cx="274320" cy="36576"/>
          </a:xfrm>
          <a:prstGeom prst="rect">
            <a:avLst/>
          </a:prstGeom>
          <a:solidFill>
            <a:srgbClr val="00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02152" y="47548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完成移动端剩余 7 个功能模块的开发与上线，持续完善移动办公体系，提升用户体验。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35624" y="2743200"/>
            <a:ext cx="2743200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35624" y="2743200"/>
            <a:ext cx="2743200" cy="91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2971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5A623"/>
                </a:solidFill>
                <a:ea typeface="微软雅黑"/>
                <a:cs typeface="微软雅黑"/>
                <a:latin typeface="微软雅黑"/>
              </a:rPr>
              <a:t>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64224" y="3611880"/>
            <a:ext cx="1828800" cy="3657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3611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F5A623"/>
                </a:solidFill>
                <a:ea typeface="微软雅黑"/>
                <a:cs typeface="微软雅黑"/>
                <a:latin typeface="微软雅黑"/>
              </a:rPr>
              <a:t>⏱  5 月底前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机构系统功能优化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64224" y="4617719"/>
            <a:ext cx="274320" cy="3657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47548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完成机构系统审批预选等相关功能的优化工作，进一步提升系统易用性与运行效率。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97696" y="2743200"/>
            <a:ext cx="2743200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97696" y="2743200"/>
            <a:ext cx="2743200" cy="914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6296" y="2971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2E8B57"/>
                </a:solidFill>
                <a:ea typeface="微软雅黑"/>
                <a:cs typeface="微软雅黑"/>
                <a:latin typeface="微软雅黑"/>
              </a:rPr>
              <a:t>04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26296" y="3611880"/>
            <a:ext cx="1828800" cy="3657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26296" y="3611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2E8B57"/>
                </a:solidFill>
                <a:ea typeface="微软雅黑"/>
                <a:cs typeface="微软雅黑"/>
                <a:latin typeface="微软雅黑"/>
              </a:rPr>
              <a:t>⏱  持续推进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26296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22B38"/>
                </a:solidFill>
                <a:ea typeface="微软雅黑"/>
                <a:cs typeface="微软雅黑"/>
                <a:latin typeface="微软雅黑"/>
              </a:rPr>
              <a:t>运维保障持续提升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26296" y="4617719"/>
            <a:ext cx="274320" cy="3657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26296" y="47548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4A5568"/>
                </a:solidFill>
                <a:ea typeface="微软雅黑"/>
                <a:cs typeface="微软雅黑"/>
                <a:latin typeface="微软雅黑"/>
              </a:rPr>
              <a:t>确保各信息系统可用性达 99.9% 以上，SLA 达标率持续保持在 95% 以上。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6199632"/>
            <a:ext cx="11384280" cy="411480"/>
          </a:xfrm>
          <a:prstGeom prst="rect">
            <a:avLst/>
          </a:prstGeom>
          <a:solidFill>
            <a:srgbClr val="D9E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199632"/>
            <a:ext cx="11384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004F8B"/>
                </a:solidFill>
                <a:ea typeface="微软雅黑"/>
                <a:cs typeface="微软雅黑"/>
                <a:latin typeface="微软雅黑"/>
              </a:rPr>
              <a:t>强化目标引领　|　压实工作责任　|　补齐短板弱项　|　高质量完成全年各项目标任务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sz="4400" b="1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汇报结束　敬请批评指正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2000" b="0">
                <a:solidFill>
                  <a:srgbClr val="FFFFFF"/>
                </a:solidFill>
                <a:ea typeface="微软雅黑"/>
                <a:cs typeface="微软雅黑"/>
                <a:latin typeface="微软雅黑"/>
              </a:rPr>
              <a:t>信息化运营管理部　|　二〇二六年四月</a:t>
            </a:r>
          </a:p>
        </p:txBody>
      </p:sp>
    </p:spTree>
  </p:cSld>
  <p:clrMapOvr>
    <a:masterClrMapping/>
  </p:clrMapOvr>
</p:sld>
</file>

<file path=ppt/tags/tag15.xml><?xml version="1.0" encoding="utf-8"?>
<p:tagLst xmlns:p="http://schemas.openxmlformats.org/presentationml/2006/main">
  <p:tag name="KSO_WPP_MARK_KEY" val="4e6872d2-2aed-4ba6-8c8b-99feb0e5c993"/>
  <p:tag name="COMMONDATA" val="eyJoZGlkIjoiMjkzNDQ5ODJlOGQ4YWY3ZWFkMjI5NjA2ZDk2Mzg5M2EifQ==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276</Words>
  <Application>WPS 文字</Application>
  <PresentationFormat>宽屏</PresentationFormat>
  <Paragraphs>113</Paragraphs>
  <Slides>11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11</vt:i4>
      </vt:variant>
    </vt:vector>
  </HeadingPairs>
  <TitlesOfParts>
    <vt:vector size="29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宋体</vt:lpstr>
      <vt:lpstr>Arial Unicode MS</vt:lpstr>
      <vt:lpstr>等线 Light</vt:lpstr>
      <vt:lpstr>汉仪中等线KW</vt:lpstr>
      <vt:lpstr>Calibri Light</vt:lpstr>
      <vt:lpstr>等线</vt:lpstr>
      <vt:lpstr>汉仪书宋二KW</vt:lpstr>
      <vt:lpstr>微软雅黑</vt:lpstr>
      <vt:lpstr>Office 主题​​</vt:lpstr>
      <vt:lpstr>1_Office 主题​​</vt:lpstr>
      <vt:lpstr>2_Office 主题​​</vt:lpstr>
      <vt:lpstr> </vt:lpstr>
      <vt:lpstr>PowerPoint 演示文稿</vt:lpstr>
      <vt:lpstr>一季度总体指标完成情况</vt:lpstr>
      <vt:lpstr>PowerPoint 演示文稿</vt:lpstr>
      <vt:lpstr>一季度工作进展</vt:lpstr>
      <vt:lpstr>PowerPoint 演示文稿</vt:lpstr>
      <vt:lpstr>存在的问题及不足</vt:lpstr>
      <vt:lpstr>PowerPoint 演示文稿</vt:lpstr>
      <vt:lpstr>二季度工作计划</vt:lpstr>
      <vt:lpstr>PowerPoint 演示文稿</vt:lpstr>
      <vt:lpstr>汇报结束，敬请指导！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梁文义</dc:creator>
  <cp:lastModifiedBy>高明毅</cp:lastModifiedBy>
  <cp:revision>376</cp:revision>
  <cp:lastPrinted>2026-04-29T02:32:45Z</cp:lastPrinted>
  <dcterms:created xsi:type="dcterms:W3CDTF">2026-04-29T02:32:45Z</dcterms:created>
  <dcterms:modified xsi:type="dcterms:W3CDTF">2026-04-29T02:32:45Z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2052-12.1.25869.25869</vt:lpwstr>
  </property>
  <property fmtid="{D5CDD505-2E9C-101B-9397-08002B2CF9AE}" pid="3" name="ICV">
    <vt:lpwstr>79798462F1AC4A44AE3DC5E5DC1A51E8_13</vt:lpwstr>
  </property>
</Properties>
</file>